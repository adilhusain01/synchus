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b0689994d24947" /><Relationship Type="http://schemas.openxmlformats.org/officeDocument/2006/relationships/extended-properties" Target="/docProps/app.xml" Id="R96d02e13c63a4fda" /><Relationship Type="http://schemas.openxmlformats.org/officeDocument/2006/relationships/officeDocument" Target="/ppt/presentation.xml" Id="Rf4895003d1da42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6c8a1c42104276"/>
  </p:sldMasterIdLst>
  <p:notesMasterIdLst>
    <p:notesMasterId xmlns:r="http://schemas.openxmlformats.org/officeDocument/2006/relationships" r:id="Rf1337c9acfb54cf3"/>
  </p:notesMasterIdLst>
  <p:sldIdLst>
    <p:sldId xmlns:r="http://schemas.openxmlformats.org/officeDocument/2006/relationships" id="256" r:id="R2fd03535d14c4b5e"/>
    <p:sldId xmlns:r="http://schemas.openxmlformats.org/officeDocument/2006/relationships" id="257" r:id="R4acbd923ffbe4f72"/>
    <p:sldId xmlns:r="http://schemas.openxmlformats.org/officeDocument/2006/relationships" id="258" r:id="Rc33aac0161ab4df1"/>
    <p:sldId xmlns:r="http://schemas.openxmlformats.org/officeDocument/2006/relationships" id="259" r:id="R05e0b75cfff94166"/>
    <p:sldId xmlns:r="http://schemas.openxmlformats.org/officeDocument/2006/relationships" id="260" r:id="R5bdbaa21058c47ad"/>
    <p:sldId xmlns:r="http://schemas.openxmlformats.org/officeDocument/2006/relationships" id="261" r:id="R3f4b3d214f3d4685"/>
    <p:sldId xmlns:r="http://schemas.openxmlformats.org/officeDocument/2006/relationships" id="262" r:id="R666e301de9c347c8"/>
    <p:sldId xmlns:r="http://schemas.openxmlformats.org/officeDocument/2006/relationships" id="263" r:id="R1308dcd2cd7e49f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4a2c6a515447cf" /><Relationship Type="http://schemas.openxmlformats.org/officeDocument/2006/relationships/slideMaster" Target="/ppt/slideMasters/slideMaster1.xml" Id="R1d6c8a1c42104276" /><Relationship Type="http://schemas.openxmlformats.org/officeDocument/2006/relationships/notesMaster" Target="/ppt/notesMasters/notesMaster1.xml" Id="Rf1337c9acfb54cf3" /><Relationship Type="http://schemas.openxmlformats.org/officeDocument/2006/relationships/presProps" Target="/ppt/presProps.xml" Id="R1c1746fd39344462" /><Relationship Type="http://schemas.openxmlformats.org/officeDocument/2006/relationships/tableStyles" Target="/ppt/tableStyles.xml" Id="R3a8b54dbe910476b" /><Relationship Type="http://schemas.openxmlformats.org/officeDocument/2006/relationships/slide" Target="/ppt/slides/slide1.xml" Id="R2fd03535d14c4b5e" /><Relationship Type="http://schemas.openxmlformats.org/officeDocument/2006/relationships/slide" Target="/ppt/slides/slide2.xml" Id="R4acbd923ffbe4f72" /><Relationship Type="http://schemas.openxmlformats.org/officeDocument/2006/relationships/slide" Target="/ppt/slides/slide3.xml" Id="Rc33aac0161ab4df1" /><Relationship Type="http://schemas.openxmlformats.org/officeDocument/2006/relationships/slide" Target="/ppt/slides/slide4.xml" Id="R05e0b75cfff94166" /><Relationship Type="http://schemas.openxmlformats.org/officeDocument/2006/relationships/slide" Target="/ppt/slides/slide5.xml" Id="R5bdbaa21058c47ad" /><Relationship Type="http://schemas.openxmlformats.org/officeDocument/2006/relationships/slide" Target="/ppt/slides/slide6.xml" Id="R3f4b3d214f3d4685" /><Relationship Type="http://schemas.openxmlformats.org/officeDocument/2006/relationships/slide" Target="/ppt/slides/slide7.xml" Id="R666e301de9c347c8" /><Relationship Type="http://schemas.openxmlformats.org/officeDocument/2006/relationships/slide" Target="/ppt/slides/slide8.xml" Id="R1308dcd2cd7e49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7a91e7305349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21a4b1c744cf4" /><Relationship Type="http://schemas.openxmlformats.org/officeDocument/2006/relationships/notesMaster" Target="/ppt/notesMasters/notesMaster1.xml" Id="R2fe567443b00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d8fb4c89d6494a" /><Relationship Type="http://schemas.openxmlformats.org/officeDocument/2006/relationships/notesMaster" Target="/ppt/notesMasters/notesMaster1.xml" Id="R121076a7c85b46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20be1d5943428a" /><Relationship Type="http://schemas.openxmlformats.org/officeDocument/2006/relationships/notesMaster" Target="/ppt/notesMasters/notesMaster1.xml" Id="R14d21a4c384440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c9d5aabe7e4090" /><Relationship Type="http://schemas.openxmlformats.org/officeDocument/2006/relationships/notesMaster" Target="/ppt/notesMasters/notesMaster1.xml" Id="R9d55ee09d80944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39279b194f47aa" /><Relationship Type="http://schemas.openxmlformats.org/officeDocument/2006/relationships/notesMaster" Target="/ppt/notesMasters/notesMaster1.xml" Id="R0a8bc8d0628042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d690456b804f2f" /><Relationship Type="http://schemas.openxmlformats.org/officeDocument/2006/relationships/notesMaster" Target="/ppt/notesMasters/notesMaster1.xml" Id="Rf20767a2c367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0a5f3350fc4ac7" /><Relationship Type="http://schemas.openxmlformats.org/officeDocument/2006/relationships/notesMaster" Target="/ppt/notesMasters/notesMaster1.xml" Id="R8ac94e3062884e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8bcaf92f9a4be6" /><Relationship Type="http://schemas.openxmlformats.org/officeDocument/2006/relationships/notesMaster" Target="/ppt/notesMasters/notesMaster1.xml" Id="Ra3569a24aa5642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idea, not the software. Synchus is not another dashboard. It is a way for the company to remember what the people closest to the work already know.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Hero illustration: original asset generated with OpenAI image generation for this deck. Product concept and copy: Synchus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tension we designed for. Not a lack of data. A lack of shared, trusted context between files, systems and the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framing and copy: Synchus project team. No external statistics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loop: Listen, reconcile, reason, act safely. The important bit is that Synchus never turns an uncertain field report into permanent truth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System design: Synchus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live-tracking theatre. It is an evidence map. Hubs and fleet assignments are clear. It also plainly says when current positions or yard counts are not connected.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screenshot: locally captured from Synchus route intelligence. Basemap: OpenStreetMap contributors. Route geometry: OSRM road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 moment. Speak the first worker line. The agent should ask for the minimum information it needs before it stages a report. That turns voice into reliable operational input instead of an unstructured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screenshot: locally captured Synchus Live interface. Voice intake policy and conversation examples: Synchus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important differentiator. When a document describes a new kind of operational fact, the system can propose a bounded schema and its required checks. People approve it. Every extension is reversible and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Capability Lab design and example: Synchus project team. Demo data: demo/02_cold_chain_readings.csv.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approval queue and audit ledger together. The answer is not the product. The evidence behind the answer, its uncertainty and the ability to reverse a decision are the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screenshots: locally captured Synchus approval queue and audit ledger.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exactly here: “Synchus is not asking the company to become more technical. It is helping the company listen to itself — safely, in the language its people already use.”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Closing copy: Synchus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83499a17c44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3b01f288e44a74" /><Relationship Type="http://schemas.openxmlformats.org/officeDocument/2006/relationships/slideLayout" Target="/ppt/slideLayouts/slideLayout1.xml" Id="R06a56fa132d84f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a56fa132d84f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712d63dc84054" /><Relationship Type="http://schemas.openxmlformats.org/officeDocument/2006/relationships/image" Target="/ppt/media/image.png" Id="R209fff9bc3204f7e" /><Relationship Type="http://schemas.openxmlformats.org/officeDocument/2006/relationships/notesSlide" Target="/ppt/notesSlides/notesSlide1.xml" Id="Rb73a7971f75e44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90a7e9cf44410" /><Relationship Type="http://schemas.openxmlformats.org/officeDocument/2006/relationships/notesSlide" Target="/ppt/notesSlides/notesSlide2.xml" Id="Rc8e660c67db84b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a4f224f904671" /><Relationship Type="http://schemas.openxmlformats.org/officeDocument/2006/relationships/notesSlide" Target="/ppt/notesSlides/notesSlide3.xml" Id="R3e34870ce54e4a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dce1fbea9440e" /><Relationship Type="http://schemas.openxmlformats.org/officeDocument/2006/relationships/image" Target="/ppt/media/image.jpeg" Id="R871cd8eb44eb4802" /><Relationship Type="http://schemas.openxmlformats.org/officeDocument/2006/relationships/notesSlide" Target="/ppt/notesSlides/notesSlide4.xml" Id="R91280757375b48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fb9369834418b" /><Relationship Type="http://schemas.openxmlformats.org/officeDocument/2006/relationships/image" Target="/ppt/media/image2.jpeg" Id="R89ed9c01a50b46a8" /><Relationship Type="http://schemas.openxmlformats.org/officeDocument/2006/relationships/notesSlide" Target="/ppt/notesSlides/notesSlide5.xml" Id="R9ad8e0f093b74c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5f62c4965439c" /><Relationship Type="http://schemas.openxmlformats.org/officeDocument/2006/relationships/notesSlide" Target="/ppt/notesSlides/notesSlide6.xml" Id="R2aea897aaa7645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c319237514d10" /><Relationship Type="http://schemas.openxmlformats.org/officeDocument/2006/relationships/image" Target="/ppt/media/image3.jpeg" Id="Re2e8970e35454674" /><Relationship Type="http://schemas.openxmlformats.org/officeDocument/2006/relationships/image" Target="/ppt/media/image4.jpeg" Id="R8820149d82264055" /><Relationship Type="http://schemas.openxmlformats.org/officeDocument/2006/relationships/notesSlide" Target="/ppt/notesSlides/notesSlide7.xml" Id="R067969f7a2ea46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415a07a5745ad" /><Relationship Type="http://schemas.openxmlformats.org/officeDocument/2006/relationships/notesSlide" Target="/ppt/notesSlides/notesSlide8.xml" Id="R458b586eeeb14c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fff9bc3204f7e"/>
          <a:srcRect xmlns:a="http://schemas.openxmlformats.org/drawingml/2006/main" l="20379" t="0" r="203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400050"/>
            <a:ext cx="9525000" cy="9048750"/>
          </a:xfrm>
          <a:prstGeom xmlns:a="http://schemas.openxmlformats.org/drawingml/2006/main" prst="roundRect">
            <a:avLst>
              <a:gd name="adj" fmla="val 168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F455B-C8B2-4AAA-A215-AE77976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4287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44545-7EEF-4174-B78D-5EE6E75A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09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AF0"/>
                </a:solidFill>
              </a:defRPr>
            </a:pPr>
            <a:r>
              <a:rPr sz="1125" b="1" i="0">
                <a:solidFill>
                  <a:srgbClr val="FFFAF0"/>
                </a:solidFill>
              </a:rPr>
              <a:t>SYNCHUS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7DBC5-FDEE-4E3F-A316-DA112B7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D653C"/>
                </a:solidFill>
              </a:defRPr>
            </a:pPr>
            <a:r>
              <a:rPr sz="1050" b="1" i="0">
                <a:solidFill>
                  <a:srgbClr val="4D653C"/>
                </a:solidFill>
              </a:rPr>
              <a:t>OPERATIONAL MEMORY FOR INDIAN LOGISTICS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A7B8A-53BB-4A65-A997-2D59B742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6810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 i="0">
                <a:solidFill>
                  <a:srgbClr val="17201C"/>
                </a:solidFill>
              </a:defRPr>
            </a:pPr>
            <a:r>
              <a:rPr sz="5250" b="1" i="0">
                <a:solidFill>
                  <a:srgbClr val="17201C"/>
                </a:solidFill>
              </a:rPr>
              <a:t>The company learns at the speed of its ground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C6390-086D-4437-9ADC-C6822022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600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5706A"/>
                </a:solidFill>
              </a:defRPr>
            </a:pPr>
            <a:r>
              <a:rPr sz="2025" b="0" i="0">
                <a:solidFill>
                  <a:srgbClr val="65706A"/>
                </a:solidFill>
              </a:rPr>
              <a:t>Voice, files, field reports and operational systems become one living context layer — with humans retaining authority.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D5FA6-4D07-4628-AE74-69A917AD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10450"/>
            <a:ext cx="1714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94951-F987-4C9B-BC7A-E02AAEEC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4866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HACKATHON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BD096-F502-429C-B47E-2DF17774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34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4D653C"/>
                </a:solidFill>
              </a:defRPr>
            </a:pPr>
            <a:r>
              <a:rPr sz="1350" b="1" i="0">
                <a:solidFill>
                  <a:srgbClr val="4D653C"/>
                </a:solidFill>
              </a:rPr>
              <a:t>Hindi · Hinglish · English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E8107-297C-4F97-B44A-D8C7D5B3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5706A"/>
                </a:solidFill>
              </a:defRPr>
            </a:pPr>
            <a:r>
              <a:rPr sz="1050" b="0" i="0">
                <a:solidFill>
                  <a:srgbClr val="65706A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45464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B7245-6B06-447F-A621-B091B7D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07252"/>
                </a:solidFill>
              </a:defRPr>
            </a:pPr>
            <a:r>
              <a:rPr sz="1050" b="1" i="0">
                <a:solidFill>
                  <a:srgbClr val="F07252"/>
                </a:solidFill>
              </a:rPr>
              <a:t>THE REAL OPERATIONAL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32E1E-A0B0-4731-8AE1-57A2B4E0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201C"/>
                </a:solidFill>
              </a:defRPr>
            </a:pPr>
            <a:r>
              <a:rPr sz="4050" b="1" i="0">
                <a:solidFill>
                  <a:srgbClr val="17201C"/>
                </a:solidFill>
              </a:rPr>
              <a:t>The system of record is never the whole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E9E45-ABDC-413B-8A09-F9519DCF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5706A"/>
                </a:solidFill>
              </a:defRPr>
            </a:pPr>
            <a:r>
              <a:rPr sz="1875" b="0" i="0">
                <a:solidFill>
                  <a:srgbClr val="65706A"/>
                </a:solidFill>
              </a:rPr>
              <a:t>Every company has documents, dashboards and people who know what changed ten minutes ago. Those truths rarely meet.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C4861-DB88-47E3-BD35-8CD0FDFC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348615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DCEEFA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C4C14-551D-43C0-BFDD-6643603F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1D329-F2B3-4993-BA98-09F5E3AF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AF0"/>
                </a:solidFill>
              </a:defRPr>
            </a:pPr>
            <a:r>
              <a:rPr sz="1050" b="1" i="0">
                <a:solidFill>
                  <a:srgbClr val="FFFAF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F800F-6960-4DF6-8EE1-4BF34B47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Files &amp; sheets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07EAE-5C93-4C37-B08C-451667B0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911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Contracts, logs, tickets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and scattered exports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BEB7C-2639-4646-B25F-9A0BC244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348615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89744-A42E-477C-A8AB-CFA53B0E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B0397-F594-4F45-BFA3-8A1EB98A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05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AF0"/>
                </a:solidFill>
              </a:defRPr>
            </a:pPr>
            <a:r>
              <a:rPr sz="1050" b="1" i="0">
                <a:solidFill>
                  <a:srgbClr val="FFFAF0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0373C-89AD-440D-9230-7E08C180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672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Operational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335C6-7F0B-4FEA-9B4C-67EC2650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911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Fleet, routes, hubs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and service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5567F-F339-4239-8C3F-32667BC2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0"/>
            <a:ext cx="348615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8DFD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FA2F3-2835-4BE7-8EBC-AA85338B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79F86-78EF-4CE1-9CE2-B0897940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05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AF0"/>
                </a:solidFill>
              </a:defRPr>
            </a:pPr>
            <a:r>
              <a:rPr sz="1050" b="1" i="0">
                <a:solidFill>
                  <a:srgbClr val="FFFAF0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9A42B-10AA-4E40-90E0-05907274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672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Ground reality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6AE53-C96F-4007-81CC-5460B0D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911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Voice notes, calls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and worker observations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5DD2B-D1D2-4409-8A4E-737F49AA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43750"/>
            <a:ext cx="13144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8948A-1DEC-4859-89D6-456C2800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39025"/>
            <a:ext cx="1238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AF0"/>
                </a:solidFill>
              </a:defRPr>
            </a:pPr>
            <a:r>
              <a:rPr sz="1950" b="1" i="0">
                <a:solidFill>
                  <a:srgbClr val="FFFAF0"/>
                </a:solidFill>
              </a:rPr>
              <a:t>The consequence: decisions are made from partial context, while the people who could complete the picture have no structured way to contribute.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63630-AACC-4CB5-A7C8-E03B388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7E066-7215-412F-8990-3DB407EC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339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85714-F704-477C-9EFF-EE6BAC3F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D653C"/>
                </a:solidFill>
              </a:defRPr>
            </a:pPr>
            <a:r>
              <a:rPr sz="1050" b="1" i="0">
                <a:solidFill>
                  <a:srgbClr val="4D653C"/>
                </a:solidFill>
              </a:rPr>
              <a:t>THE SYNCHUS CONTEXT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5C473-3CDD-44BE-B7FE-72F330DC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201C"/>
                </a:solidFill>
              </a:defRPr>
            </a:pPr>
            <a:r>
              <a:rPr sz="4050" b="1" i="0">
                <a:solidFill>
                  <a:srgbClr val="17201C"/>
                </a:solidFill>
              </a:rPr>
              <a:t>One living operational memory.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81A9A-532D-4A8E-A5E1-5AA811A3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5706A"/>
                </a:solidFill>
              </a:defRPr>
            </a:pPr>
            <a:r>
              <a:rPr sz="1800" b="0" i="0">
                <a:solidFill>
                  <a:srgbClr val="65706A"/>
                </a:solidFill>
              </a:rPr>
              <a:t>Synchus keeps raw inputs, reasons across connected evidence, separates known from unknown, and stages only useful changes for human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F9D18-9C95-4CA6-A8E3-B453F55C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1813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DCEEFA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8B64B-2346-4505-9757-F749EDE1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D653C"/>
                </a:solidFill>
              </a:defRPr>
            </a:pPr>
            <a:r>
              <a:rPr sz="1200" b="1" i="0">
                <a:solidFill>
                  <a:srgbClr val="4D653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2AF86-5660-42CD-80A5-1C40387E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1C"/>
                </a:solidFill>
              </a:defRPr>
            </a:pPr>
            <a:r>
              <a:rPr sz="2250" b="1" i="0">
                <a:solidFill>
                  <a:srgbClr val="17201C"/>
                </a:solidFill>
              </a:rPr>
              <a:t>Listen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DFB5A-27FB-4404-BF74-B7AF65B9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29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Voice, Telegram, uploads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and existing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C760F-7E71-4136-8951-0C16F4D0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07252"/>
                </a:solidFill>
              </a:defRPr>
            </a:pPr>
            <a:r>
              <a:rPr sz="22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C6592-F4B0-4DA5-A665-21268FEE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00500"/>
            <a:ext cx="31813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FAF27-29CE-44ED-BD68-E1F41AF6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86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D653C"/>
                </a:solidFill>
              </a:defRPr>
            </a:pPr>
            <a:r>
              <a:rPr sz="1200" b="1" i="0">
                <a:solidFill>
                  <a:srgbClr val="4D653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E74B6-A28A-4CAC-AEC0-E7572B94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1C"/>
                </a:solidFill>
              </a:defRPr>
            </a:pPr>
            <a:r>
              <a:rPr sz="2250" b="1" i="0">
                <a:solidFill>
                  <a:srgbClr val="17201C"/>
                </a:solidFill>
              </a:rPr>
              <a:t>Reconcile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9C299-757B-41FD-A79B-24A5CD56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29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Match entities, conflicts,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locations and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AB1B5-E6D7-4BAA-888B-9E5488B6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48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07252"/>
                </a:solidFill>
              </a:defRPr>
            </a:pPr>
            <a:r>
              <a:rPr sz="22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1BE8B-FBAF-4C6B-9766-5F16FF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31813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8F1DC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88298-922E-48A0-B409-6316E0F4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86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D653C"/>
                </a:solidFill>
              </a:defRPr>
            </a:pPr>
            <a:r>
              <a:rPr sz="1200" b="1" i="0">
                <a:solidFill>
                  <a:srgbClr val="4D653C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2D117-D09E-4130-9051-6C07AAF8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1C"/>
                </a:solidFill>
              </a:defRPr>
            </a:pPr>
            <a:r>
              <a:rPr sz="2250" b="1" i="0">
                <a:solidFill>
                  <a:srgbClr val="17201C"/>
                </a:solidFill>
              </a:rPr>
              <a:t>Reason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6246A-7375-494E-8A49-E414F245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29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Find what matters,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what is missing and why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FF23E-9FE9-469E-8AF8-7637D762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048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07252"/>
                </a:solidFill>
              </a:defRPr>
            </a:pPr>
            <a:r>
              <a:rPr sz="22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69C81-9D22-4422-B0E8-08A2C562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4000500"/>
            <a:ext cx="31813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5BFCD-387D-42B3-BDB5-B1771758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286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D653C"/>
                </a:solidFill>
              </a:defRPr>
            </a:pPr>
            <a:r>
              <a:rPr sz="1200" b="1" i="0">
                <a:solidFill>
                  <a:srgbClr val="4D653C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A91D7-65FF-4F67-9B0E-D68E18B8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1C"/>
                </a:solidFill>
              </a:defRPr>
            </a:pPr>
            <a:r>
              <a:rPr sz="2250" b="1" i="0">
                <a:solidFill>
                  <a:srgbClr val="17201C"/>
                </a:solidFill>
              </a:rPr>
              <a:t>Act safely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D2FA9-89B4-46C0-9D29-A7B5693E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429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Answer, stage, approve,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audit and reverse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9B8A55-13AD-4B0E-8B85-F0F173E5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3048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8733D-FFFB-4829-8A6B-F172FFE3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343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HUMAN APPROVAL IS THE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4C217-9EC2-4E44-AA42-D8E7B795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7152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D653C"/>
                </a:solidFill>
              </a:defRPr>
            </a:pPr>
            <a:r>
              <a:rPr sz="1500" b="1" i="0">
                <a:solidFill>
                  <a:srgbClr val="4D653C"/>
                </a:solidFill>
              </a:rPr>
              <a:t>Raw events remain preserved. Canonical context changes only after a person approves 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BBF1D1-758E-4D6B-9753-137AB8B5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9FC32-2AEA-4482-AE11-F4157967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3716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BB360-5AE1-4E54-BEA3-C214AEF7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07252"/>
                </a:solidFill>
              </a:defRPr>
            </a:pPr>
            <a:r>
              <a:rPr sz="1050" b="1" i="0">
                <a:solidFill>
                  <a:srgbClr val="F07252"/>
                </a:solidFill>
              </a:rPr>
              <a:t>SPATIAL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0809F-13E5-4E33-8E35-C20F859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1C"/>
                </a:solidFill>
              </a:defRPr>
            </a:pPr>
            <a:r>
              <a:rPr sz="3750" b="1" i="0">
                <a:solidFill>
                  <a:srgbClr val="17201C"/>
                </a:solidFill>
              </a:rPr>
              <a:t>A route becomes a decision — with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8933D-EC32-4924-B1B4-F3629EEC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65706A"/>
                </a:solidFill>
              </a:defRPr>
            </a:pPr>
            <a:r>
              <a:rPr sz="1725" b="0" i="0">
                <a:solidFill>
                  <a:srgbClr val="65706A"/>
                </a:solidFill>
              </a:rPr>
              <a:t>Select a route and see its hubs, assigned fleet, route precautions, historical patterns and honest gaps in live data.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cd8eb44eb4802"/>
          <a:srcRect xmlns:a="http://schemas.openxmlformats.org/drawingml/2006/main" l="0" t="2016" r="0" b="2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3143250"/>
            <a:ext cx="10763250" cy="5810250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3C050-8A2E-4E23-A5AB-7657C122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43250"/>
            <a:ext cx="5048250" cy="58102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9F0D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1D39B-139D-45BE-B7DF-BF2E05D5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619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What the map makes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7B75F-BA07-427D-8FE9-CDE42126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4005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0B189-1682-42AE-BAA5-BFC02471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3529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Route geometry and distance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42F4E-C7CE-4612-808B-EF3C4299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2768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F0A8A-C46A-493A-803E-6BD0B85B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2292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Hub clusters and home assignments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68350-A21D-44E7-BA6E-15039758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153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72B24-25B0-4B90-BEBD-88834913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1055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Precautions and historical incidents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ED49B-A465-4D27-9467-97C9A3AD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029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7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F87E4-1CBE-4539-A390-BACA6721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9818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A3E2A"/>
                </a:solidFill>
              </a:defRPr>
            </a:pPr>
            <a:r>
              <a:rPr sz="1425" b="1" i="0">
                <a:solidFill>
                  <a:srgbClr val="8A3E2A"/>
                </a:solidFill>
              </a:rPr>
              <a:t>What is missing — without pretending it is 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6B359-3A49-4971-AA11-76A854A4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715250"/>
            <a:ext cx="23050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52659-F0FF-4D2A-8D76-78D0DB92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7914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NOT A LIVE GPS 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FBAA3-2847-4290-92F9-A354BD19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8210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D653C"/>
                </a:solidFill>
              </a:defRPr>
            </a:pPr>
            <a:r>
              <a:rPr sz="1275" b="1" i="0">
                <a:solidFill>
                  <a:srgbClr val="4D653C"/>
                </a:solidFill>
              </a:rPr>
              <a:t>The app distinguishes static evidence from live feeds — visibly.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42CD4-8AF0-4B13-A2AF-3F2A5934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A86E4-58C6-412F-B408-F486FD04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2802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A3782-6127-4A1B-8FB5-E2146DAB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8FF3D"/>
                </a:solidFill>
              </a:defRPr>
            </a:pPr>
            <a:r>
              <a:rPr sz="1050" b="1" i="0">
                <a:solidFill>
                  <a:srgbClr val="C8FF3D"/>
                </a:solidFill>
              </a:rPr>
              <a:t>GROUND TRUTH, IN THE WORKER’S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34BF2-C7A2-4FFF-AD3E-472FF134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9334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FAF0"/>
                </a:solidFill>
              </a:defRPr>
            </a:pPr>
            <a:r>
              <a:rPr sz="3900" b="1" i="0">
                <a:solidFill>
                  <a:srgbClr val="FFFAF0"/>
                </a:solidFill>
              </a:rPr>
              <a:t>The worker does not fill a form. Synchus conducts the interview.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27D96-CE15-4F3C-8166-5CB55C5A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7D1CA"/>
                </a:solidFill>
              </a:defRPr>
            </a:pPr>
            <a:r>
              <a:rPr sz="1725" b="0" i="0">
                <a:solidFill>
                  <a:srgbClr val="C7D1CA"/>
                </a:solidFill>
              </a:rPr>
              <a:t>Hindi, Hinglish or English — voice is the fastest way to get the detail the company is missing.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d9c01a50b46a8"/>
          <a:srcRect xmlns:a="http://schemas.openxmlformats.org/drawingml/2006/main" l="26893" t="0" r="26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647700"/>
            <a:ext cx="6667500" cy="811530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286E1-421F-4639-8160-AE222DD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8572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99283-F826-4BCE-8868-19A0DFD6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D653C"/>
                </a:solidFill>
              </a:defRPr>
            </a:pPr>
            <a:r>
              <a:rPr sz="975" b="1" i="0">
                <a:solidFill>
                  <a:srgbClr val="4D653C"/>
                </a:solidFill>
              </a:rPr>
              <a:t>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ECFC8-D610-4CA6-B5CA-EA72FDAE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1C"/>
                </a:solidFill>
              </a:defRPr>
            </a:pPr>
            <a:r>
              <a:rPr sz="1500" b="1" i="0">
                <a:solidFill>
                  <a:srgbClr val="17201C"/>
                </a:solidFill>
              </a:rPr>
              <a:t>“NH44 par blockage hai.”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F0991-7BC8-467B-9545-277F48DA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48275"/>
            <a:ext cx="8572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7F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508D9-A098-4AA6-825C-F3B72357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97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D653C"/>
                </a:solidFill>
              </a:defRPr>
            </a:pPr>
            <a:r>
              <a:rPr sz="975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6FBEC-C987-4AF7-BB95-C01FA424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054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1C"/>
                </a:solidFill>
              </a:defRPr>
            </a:pPr>
            <a:r>
              <a:rPr sz="1500" b="1" i="0">
                <a:solidFill>
                  <a:srgbClr val="17201C"/>
                </a:solidFill>
              </a:rPr>
              <a:t>“Kis vehicle, exact location, severity aur expected end time?”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67B35-AAC8-485D-938A-F0F3942B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8572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5ACCF-7A57-4269-BF31-9B98ECC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6198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D653C"/>
                </a:solidFill>
              </a:defRPr>
            </a:pPr>
            <a:r>
              <a:rPr sz="975" b="1" i="0">
                <a:solidFill>
                  <a:srgbClr val="4D653C"/>
                </a:solidFill>
              </a:rPr>
              <a:t>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A5A57-C5DA-4357-BBFF-3AAB47F8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05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1C"/>
                </a:solidFill>
              </a:defRPr>
            </a:pPr>
            <a:r>
              <a:rPr sz="1500" b="1" i="0">
                <a:solidFill>
                  <a:srgbClr val="17201C"/>
                </a:solidFill>
              </a:rPr>
              <a:t>“DL30AN8381, Murthal, medium, 18:30 tak clear ho sakta hai.”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7DA57-C215-495A-8A07-7CA21252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48575"/>
            <a:ext cx="8572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620B7-D043-4E39-94EC-C944EFFE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8200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D653C"/>
                </a:solidFill>
              </a:defRPr>
            </a:pPr>
            <a:r>
              <a:rPr sz="975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26643-C5DA-4CB1-A5A3-25F79801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1057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1C"/>
                </a:solidFill>
              </a:defRPr>
            </a:pPr>
            <a:r>
              <a:rPr sz="1500" b="1" i="0">
                <a:solidFill>
                  <a:srgbClr val="17201C"/>
                </a:solidFill>
              </a:rPr>
              <a:t>“Confirm karun? Is report ko review ke liye stage kar raha hoon.”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F7F9E-C524-4E19-B4BF-176C6F41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05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8FF3D"/>
                </a:solidFill>
              </a:defRPr>
            </a:pPr>
            <a:r>
              <a:rPr sz="1125" b="1" i="0">
                <a:solidFill>
                  <a:srgbClr val="C8FF3D"/>
                </a:solidFill>
              </a:rPr>
              <a:t>Press Space to begin. Press Space again to stop.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823D6-235A-4E3F-B4E2-4B073185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4B2B9-78DF-4BDD-8723-B7909F09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5896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F3BA12-07CC-4A6F-9875-FB2F153D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07252"/>
                </a:solidFill>
              </a:defRPr>
            </a:pPr>
            <a:r>
              <a:rPr sz="1050" b="1" i="0">
                <a:solidFill>
                  <a:srgbClr val="F07252"/>
                </a:solidFill>
              </a:rPr>
              <a:t>CAPABILITY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B52C7-01B5-4B7E-8A0D-6382CAE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381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1C"/>
                </a:solidFill>
              </a:defRPr>
            </a:pPr>
            <a:r>
              <a:rPr sz="3750" b="1" i="0">
                <a:solidFill>
                  <a:srgbClr val="17201C"/>
                </a:solidFill>
              </a:rPr>
              <a:t>When the model is missing, Synchus proposes the smallest safe extension.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D49B4-5496-4C8A-B375-3E66671F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219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65706A"/>
                </a:solidFill>
              </a:defRPr>
            </a:pPr>
            <a:r>
              <a:rPr sz="1725" b="0" i="0">
                <a:solidFill>
                  <a:srgbClr val="65706A"/>
                </a:solidFill>
              </a:rPr>
              <a:t>Some useful information does not fit today’s tables. Synchus can turn that gap into a reviewable capability proposal — never an unreviewed database mutation.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E3084-24B4-453B-8628-263A1CC5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6101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8DFD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8AE4F-E398-4BC9-B936-B021EC9F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A84B38"/>
                </a:solidFill>
              </a:defRPr>
            </a:pPr>
            <a:r>
              <a:rPr sz="1050" b="1" i="0">
                <a:solidFill>
                  <a:srgbClr val="A84B38"/>
                </a:solidFill>
              </a:rPr>
              <a:t>INCOMING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9B0B5-2482-470B-A63B-4E4D6E60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Cold-chain readings arrive in a 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9B56B-F338-4835-95C6-E6A61993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5706A"/>
                </a:solidFill>
              </a:defRPr>
            </a:pPr>
            <a:r>
              <a:rPr sz="1500" b="0" i="0">
                <a:solidFill>
                  <a:srgbClr val="65706A"/>
                </a:solidFill>
              </a:rPr>
              <a:t>“Temperature excursions must be linked to a vehicle, shipment and time window.”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51FF6-1689-434E-AA3E-BE336FDE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5325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C44D8-14EE-4985-B510-CC2653BE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029450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82520D"/>
                </a:solidFill>
              </a:defRPr>
            </a:pPr>
            <a:r>
              <a:rPr sz="900" b="1" i="0">
                <a:solidFill>
                  <a:srgbClr val="82520D"/>
                </a:solidFill>
              </a:rPr>
              <a:t>NO CURRENT ENTITY EXISTS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4A02A-6562-4DA0-AAB0-5ABDC908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959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07252"/>
                </a:solidFill>
              </a:defRPr>
            </a:pPr>
            <a:r>
              <a:rPr sz="37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E802C-6498-42B6-8BE3-A32B269A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5334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0C31A-719F-4BAE-81A7-A19C590A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3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538A"/>
                </a:solidFill>
              </a:defRPr>
            </a:pPr>
            <a:r>
              <a:rPr sz="1050" b="1" i="0">
                <a:solidFill>
                  <a:srgbClr val="62538A"/>
                </a:solidFill>
              </a:rPr>
              <a:t>AGENT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624A7-319C-4762-A85B-FBA11332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76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cold_chain_reading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0B1BD-7BEF-4436-BC1E-BC8D59F9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00650"/>
            <a:ext cx="4286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8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926CE-BF1E-4D2E-ADE0-03D95752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149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34F63"/>
                </a:solidFill>
              </a:defRPr>
            </a:pPr>
            <a:r>
              <a:rPr sz="975" b="1" i="0">
                <a:solidFill>
                  <a:srgbClr val="534F63"/>
                </a:solidFill>
              </a:rPr>
              <a:t>vehicle_registration · text ·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4C481-9265-47B8-B617-28C90C44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53100"/>
            <a:ext cx="4286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8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B0F92-96EA-4532-AA46-87C25817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674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34F63"/>
                </a:solidFill>
              </a:defRPr>
            </a:pPr>
            <a:r>
              <a:rPr sz="975" b="1" i="0">
                <a:solidFill>
                  <a:srgbClr val="534F63"/>
                </a:solidFill>
              </a:rPr>
              <a:t>recorded_at · timestamp ·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C95CF-DD3D-40CB-BD05-C02EA30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305550"/>
            <a:ext cx="4286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8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1000A-5EA6-4378-8676-CAE6F967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4198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34F63"/>
                </a:solidFill>
              </a:defRPr>
            </a:pPr>
            <a:r>
              <a:rPr sz="975" b="1" i="0">
                <a:solidFill>
                  <a:srgbClr val="534F63"/>
                </a:solidFill>
              </a:rPr>
              <a:t>temperature_c · number · required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125C3-5994-4689-B4D9-8D48A247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858000"/>
            <a:ext cx="4286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8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DD051-269C-4368-9EA1-FD078BB4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9723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34F63"/>
                </a:solidFill>
              </a:defRPr>
            </a:pPr>
            <a:r>
              <a:rPr sz="975" b="1" i="0">
                <a:solidFill>
                  <a:srgbClr val="534F63"/>
                </a:solidFill>
              </a:rPr>
              <a:t>shipment_ref · text · optional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8BC03-845E-4B7C-8501-867B7A7C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2959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07252"/>
                </a:solidFill>
              </a:defRPr>
            </a:pPr>
            <a:r>
              <a:rPr sz="37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25948-CF62-423C-8403-1CE4D2F8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3905250"/>
            <a:ext cx="3333750" cy="39052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9F0D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9E404-6A9D-4AAD-A261-BD2E193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248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D653C"/>
                </a:solidFill>
              </a:defRPr>
            </a:pPr>
            <a:r>
              <a:rPr sz="1050" b="1" i="0">
                <a:solidFill>
                  <a:srgbClr val="4D653C"/>
                </a:solidFill>
              </a:rPr>
              <a:t>HUMAN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12F6C-3436-45B0-B2B3-D0DFB5D3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7815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01C"/>
                </a:solidFill>
              </a:defRPr>
            </a:pPr>
            <a:r>
              <a:rPr sz="2400" b="1" i="0">
                <a:solidFill>
                  <a:srgbClr val="17201C"/>
                </a:solidFill>
              </a:rPr>
              <a:t>Approve</a:t>
            </a:r>
          </a:p>
          <a:p xmlns:a="http://schemas.openxmlformats.org/drawingml/2006/main">
            <a:pPr>
              <a:defRPr sz="2400" b="1" i="0">
                <a:solidFill>
                  <a:srgbClr val="17201C"/>
                </a:solidFill>
              </a:defRPr>
            </a:pPr>
            <a:r>
              <a:rPr sz="2400" b="1" i="0">
                <a:solidFill>
                  <a:srgbClr val="17201C"/>
                </a:solidFill>
              </a:rPr>
              <a:t>or reject.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4A2E31-386A-4CF5-A86A-E79D0495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000750"/>
            <a:ext cx="247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5706A"/>
                </a:solidFill>
              </a:defRPr>
            </a:pPr>
            <a:r>
              <a:rPr sz="1350" b="0" i="0">
                <a:solidFill>
                  <a:srgbClr val="65706A"/>
                </a:solidFill>
              </a:rPr>
              <a:t>Approval creates the capability. Rejection preserves the raw evidence and the audit trail.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BB9886-CAA6-4E75-8956-7A895415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21995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405868-2849-491C-8C9B-266E50CD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72961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REVERSIBLE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DAEA5-9004-45E7-8517-D0A65F13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88C42-AF54-4C0A-AB41-C7A484DD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0928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A589A-72F3-48C4-A0A2-7224D5B3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07252"/>
                </a:solidFill>
              </a:defRPr>
            </a:pPr>
            <a:r>
              <a:rPr sz="1050" b="1" i="0">
                <a:solidFill>
                  <a:srgbClr val="F07252"/>
                </a:solidFill>
              </a:rPr>
              <a:t>TRUST IS A PRODUCT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77791-CE35-4746-8B25-E294698A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1C"/>
                </a:solidFill>
              </a:defRPr>
            </a:pPr>
            <a:r>
              <a:rPr sz="3750" b="1" i="0">
                <a:solidFill>
                  <a:srgbClr val="17201C"/>
                </a:solidFill>
              </a:rPr>
              <a:t>Useful intelligence, without a black box.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81E6A-90FF-4720-B939-0765AD92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65706A"/>
                </a:solidFill>
              </a:defRPr>
            </a:pPr>
            <a:r>
              <a:rPr sz="1725" b="0" i="0">
                <a:solidFill>
                  <a:srgbClr val="65706A"/>
                </a:solidFill>
              </a:rPr>
              <a:t>Synchus keeps the source, the reasoning, the uncertainty and the human decision visible together.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8970e35454674"/>
          <a:srcRect xmlns:a="http://schemas.openxmlformats.org/drawingml/2006/main" l="4026" t="0" r="40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3181350"/>
            <a:ext cx="8096250" cy="49530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0149d82264055"/>
          <a:srcRect xmlns:a="http://schemas.openxmlformats.org/drawingml/2006/main" l="5108" t="0" r="51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3181350"/>
            <a:ext cx="7905750" cy="49530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04059-3498-4F3D-A186-A0F8A8F9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2965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CEEFA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8F7D1-088F-4266-9DD6-B1097496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8106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01C"/>
                </a:solidFill>
              </a:defRPr>
            </a:pPr>
            <a:r>
              <a:rPr sz="1275" b="1" i="0">
                <a:solidFill>
                  <a:srgbClr val="17201C"/>
                </a:solidFill>
              </a:rPr>
              <a:t>Evidence stays linked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FF5AE-D9AE-4528-A5F6-271CF25E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62965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AF979-3EC9-4D02-B83E-14390E94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88106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01C"/>
                </a:solidFill>
              </a:defRPr>
            </a:pPr>
            <a:r>
              <a:rPr sz="1275" b="1" i="0">
                <a:solidFill>
                  <a:srgbClr val="17201C"/>
                </a:solidFill>
              </a:rPr>
              <a:t>Unknowns stay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E3DBC-CABC-49EE-A7BA-AA5969C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862965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9F0D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56B5C-35DE-4A32-9C5E-676BA233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8106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01C"/>
                </a:solidFill>
              </a:defRPr>
            </a:pPr>
            <a:r>
              <a:rPr sz="1275" b="1" i="0">
                <a:solidFill>
                  <a:srgbClr val="17201C"/>
                </a:solidFill>
              </a:rPr>
              <a:t>Approvals preserve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C1833-9027-4CBF-B937-C7731482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862965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173EE-76CC-4E49-A1F5-2F2F62B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8106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01C"/>
                </a:solidFill>
              </a:defRPr>
            </a:pPr>
            <a:r>
              <a:rPr sz="1275" b="1" i="0">
                <a:solidFill>
                  <a:srgbClr val="17201C"/>
                </a:solidFill>
              </a:rPr>
              <a:t>Changes can be reversed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295A2-974C-40EB-878F-50F9FB9B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92DF8-603F-4342-AA61-87187159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1898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5C0EE-0B7C-4E27-BE4C-871E21A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FFA43-ED93-40F1-AE0C-A06C01A6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8FF3D"/>
                </a:solidFill>
              </a:defRPr>
            </a:pPr>
            <a:r>
              <a:rPr sz="1050" b="1" i="0">
                <a:solidFill>
                  <a:srgbClr val="C8FF3D"/>
                </a:solidFill>
              </a:rPr>
              <a:t>THE SYNCHUS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B589F-44F1-4657-A1A9-09A0EAD4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11239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AF0"/>
                </a:solidFill>
              </a:defRPr>
            </a:pPr>
            <a:r>
              <a:rPr sz="4350" b="1" i="0">
                <a:solidFill>
                  <a:srgbClr val="FFFAF0"/>
                </a:solidFill>
              </a:rPr>
              <a:t>Files become evidence.</a:t>
            </a:r>
          </a:p>
          <a:p xmlns:a="http://schemas.openxmlformats.org/drawingml/2006/main">
            <a:pPr>
              <a:defRPr sz="4350" b="1" i="0">
                <a:solidFill>
                  <a:srgbClr val="FFFAF0"/>
                </a:solidFill>
              </a:defRPr>
            </a:pPr>
            <a:r>
              <a:rPr sz="4350" b="1" i="0">
                <a:solidFill>
                  <a:srgbClr val="FFFAF0"/>
                </a:solidFill>
              </a:rPr>
              <a:t>Voices become structured knowledge.</a:t>
            </a:r>
          </a:p>
          <a:p xmlns:a="http://schemas.openxmlformats.org/drawingml/2006/main">
            <a:pPr>
              <a:defRPr sz="4350" b="1" i="0">
                <a:solidFill>
                  <a:srgbClr val="FFFAF0"/>
                </a:solidFill>
              </a:defRPr>
            </a:pPr>
            <a:r>
              <a:rPr sz="4350" b="1" i="0">
                <a:solidFill>
                  <a:srgbClr val="FFFAF0"/>
                </a:solidFill>
              </a:rPr>
              <a:t>Maps become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4D07F-B2EA-4D94-8E9C-400722EC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7D1CA"/>
                </a:solidFill>
              </a:defRPr>
            </a:pPr>
            <a:r>
              <a:rPr sz="1875" b="0" i="0">
                <a:solidFill>
                  <a:srgbClr val="C7D1CA"/>
                </a:solidFill>
              </a:rPr>
              <a:t>And through it all, the company keeps its human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EF349-2068-498D-A139-3B17B307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1535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C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2C74E-5A2A-4443-A070-AA97BA26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15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8FF3D"/>
                </a:solidFill>
              </a:defRPr>
            </a:pPr>
            <a:r>
              <a:rPr sz="1200" b="1" i="0">
                <a:solidFill>
                  <a:srgbClr val="C8FF3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55168-5C2B-4268-99A5-C640DFFD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AF0"/>
                </a:solidFill>
              </a:defRPr>
            </a:pPr>
            <a:r>
              <a:rPr sz="2100" b="1" i="0">
                <a:solidFill>
                  <a:srgbClr val="FFFAF0"/>
                </a:solidFill>
              </a:rPr>
              <a:t>Listen to the field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A8C1E-A3F1-4312-B906-1C2878BB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7D1CA"/>
                </a:solidFill>
              </a:defRPr>
            </a:pPr>
            <a:r>
              <a:rPr sz="1425" b="0" i="0">
                <a:solidFill>
                  <a:srgbClr val="C7D1CA"/>
                </a:solidFill>
              </a:rPr>
              <a:t>Speak in Hindi, Hinglish or English.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82D20-8FB2-4031-84F7-83C47378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515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8FF3D"/>
                </a:solidFill>
              </a:defRPr>
            </a:pPr>
            <a:r>
              <a:rPr sz="1200" b="1" i="0">
                <a:solidFill>
                  <a:srgbClr val="C8FF3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BD630-28BD-435B-9AF6-B4D24E8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029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AF0"/>
                </a:solidFill>
              </a:defRPr>
            </a:pPr>
            <a:r>
              <a:rPr sz="2100" b="1" i="0">
                <a:solidFill>
                  <a:srgbClr val="FFFAF0"/>
                </a:solidFill>
              </a:rPr>
              <a:t>See the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B1DC2-5BCF-4523-A8F4-4E9CB0FD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620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7D1CA"/>
                </a:solidFill>
              </a:defRPr>
            </a:pPr>
            <a:r>
              <a:rPr sz="1425" b="0" i="0">
                <a:solidFill>
                  <a:srgbClr val="C7D1CA"/>
                </a:solidFill>
              </a:rPr>
              <a:t>Routes, hubs, fleet and evidence in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E8939-30FE-40E1-A99C-D62F8BF4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8FF3D"/>
                </a:solidFill>
              </a:defRPr>
            </a:pPr>
            <a:r>
              <a:rPr sz="1200" b="1" i="0">
                <a:solidFill>
                  <a:srgbClr val="C8FF3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3502E-1A27-4C0B-A0B4-E0172475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029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AF0"/>
                </a:solidFill>
              </a:defRPr>
            </a:pPr>
            <a:r>
              <a:rPr sz="2100" b="1" i="0">
                <a:solidFill>
                  <a:srgbClr val="FFFAF0"/>
                </a:solidFill>
              </a:rPr>
              <a:t>Learn safely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62DD2-819E-498E-B238-A2E981B3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20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7D1CA"/>
                </a:solidFill>
              </a:defRPr>
            </a:pPr>
            <a:r>
              <a:rPr sz="1425" b="0" i="0">
                <a:solidFill>
                  <a:srgbClr val="C7D1CA"/>
                </a:solidFill>
              </a:rPr>
              <a:t>Propose, approve, audit and reverse.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1C76B-7AC3-419F-A995-0845CAC7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896350"/>
            <a:ext cx="5715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B171F-53F1-491D-BF35-56361F58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72550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THE COMPANY LEARNS AT THE SPEED OF ITS GROUND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AB445-2E10-4D95-9D8F-F87C36C0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9239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8FF3D"/>
                </a:solidFill>
              </a:defRPr>
            </a:pPr>
            <a:r>
              <a:rPr sz="1350" b="1" i="0">
                <a:solidFill>
                  <a:srgbClr val="C8FF3D"/>
                </a:solidFill>
              </a:rPr>
              <a:t>SYNCHUS</a:t>
            </a:r>
          </a:p>
        </p:txBody>
      </p:sp>
    </p:spTree>
    <p:extLst>
      <p:ext uri="{BB962C8B-B14F-4D97-AF65-F5344CB8AC3E}">
        <p14:creationId xmlns:p14="http://schemas.microsoft.com/office/powerpoint/2010/main" val="474822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2026-08-30T09:26:16.1260000Z</dcterms:created>
  <dcterms:modified xsi:type="dcterms:W3CDTF">2026-08-30T09:26:16.1260000Z</dcterms:modified>
</coreProperties>
</file>