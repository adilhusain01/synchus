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80620408c54435" /><Relationship Type="http://schemas.openxmlformats.org/officeDocument/2006/relationships/extended-properties" Target="/docProps/app.xml" Id="R9f21883022f84335" /><Relationship Type="http://schemas.openxmlformats.org/officeDocument/2006/relationships/officeDocument" Target="/ppt/presentation.xml" Id="Rf560dfbd8bc64e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8d9515b6544b8b"/>
  </p:sldMasterIdLst>
  <p:notesMasterIdLst>
    <p:notesMasterId xmlns:r="http://schemas.openxmlformats.org/officeDocument/2006/relationships" r:id="Rb4648f3a049a4e09"/>
  </p:notesMasterIdLst>
  <p:sldIdLst>
    <p:sldId xmlns:r="http://schemas.openxmlformats.org/officeDocument/2006/relationships" id="256" r:id="R8cf0f62d560e4f2b"/>
    <p:sldId xmlns:r="http://schemas.openxmlformats.org/officeDocument/2006/relationships" id="257" r:id="Re89928dd5aaa48cb"/>
    <p:sldId xmlns:r="http://schemas.openxmlformats.org/officeDocument/2006/relationships" id="258" r:id="Rd212dffb4df04940"/>
    <p:sldId xmlns:r="http://schemas.openxmlformats.org/officeDocument/2006/relationships" id="259" r:id="R8393e86a406e47ad"/>
    <p:sldId xmlns:r="http://schemas.openxmlformats.org/officeDocument/2006/relationships" id="260" r:id="R153b943a118c4851"/>
    <p:sldId xmlns:r="http://schemas.openxmlformats.org/officeDocument/2006/relationships" id="261" r:id="Raf7ae262a1444105"/>
    <p:sldId xmlns:r="http://schemas.openxmlformats.org/officeDocument/2006/relationships" id="262" r:id="R4d6ca9fa34134c10"/>
    <p:sldId xmlns:r="http://schemas.openxmlformats.org/officeDocument/2006/relationships" id="263" r:id="R84618f545ceb43a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16582c61b8469a" /><Relationship Type="http://schemas.openxmlformats.org/officeDocument/2006/relationships/slideMaster" Target="/ppt/slideMasters/slideMaster1.xml" Id="R058d9515b6544b8b" /><Relationship Type="http://schemas.openxmlformats.org/officeDocument/2006/relationships/notesMaster" Target="/ppt/notesMasters/notesMaster1.xml" Id="Rb4648f3a049a4e09" /><Relationship Type="http://schemas.openxmlformats.org/officeDocument/2006/relationships/presProps" Target="/ppt/presProps.xml" Id="R65f963b165ce47ca" /><Relationship Type="http://schemas.openxmlformats.org/officeDocument/2006/relationships/tableStyles" Target="/ppt/tableStyles.xml" Id="Rbc7a188cd5924179" /><Relationship Type="http://schemas.openxmlformats.org/officeDocument/2006/relationships/slide" Target="/ppt/slides/slide1.xml" Id="R8cf0f62d560e4f2b" /><Relationship Type="http://schemas.openxmlformats.org/officeDocument/2006/relationships/slide" Target="/ppt/slides/slide2.xml" Id="Re89928dd5aaa48cb" /><Relationship Type="http://schemas.openxmlformats.org/officeDocument/2006/relationships/slide" Target="/ppt/slides/slide3.xml" Id="Rd212dffb4df04940" /><Relationship Type="http://schemas.openxmlformats.org/officeDocument/2006/relationships/slide" Target="/ppt/slides/slide4.xml" Id="R8393e86a406e47ad" /><Relationship Type="http://schemas.openxmlformats.org/officeDocument/2006/relationships/slide" Target="/ppt/slides/slide5.xml" Id="R153b943a118c4851" /><Relationship Type="http://schemas.openxmlformats.org/officeDocument/2006/relationships/slide" Target="/ppt/slides/slide6.xml" Id="Raf7ae262a1444105" /><Relationship Type="http://schemas.openxmlformats.org/officeDocument/2006/relationships/slide" Target="/ppt/slides/slide7.xml" Id="R4d6ca9fa34134c10" /><Relationship Type="http://schemas.openxmlformats.org/officeDocument/2006/relationships/slide" Target="/ppt/slides/slide8.xml" Id="R84618f545ceb43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5d6e874c4a4c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6e6c2da1644d91" /><Relationship Type="http://schemas.openxmlformats.org/officeDocument/2006/relationships/notesMaster" Target="/ppt/notesMasters/notesMaster1.xml" Id="Re78edb42da4342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4c9094c8ba45b2" /><Relationship Type="http://schemas.openxmlformats.org/officeDocument/2006/relationships/notesMaster" Target="/ppt/notesMasters/notesMaster1.xml" Id="R68f4432f98a34c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a0e45fca214fac" /><Relationship Type="http://schemas.openxmlformats.org/officeDocument/2006/relationships/notesMaster" Target="/ppt/notesMasters/notesMaster1.xml" Id="R06a6b4e076f34b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4281201e074e36" /><Relationship Type="http://schemas.openxmlformats.org/officeDocument/2006/relationships/notesMaster" Target="/ppt/notesMasters/notesMaster1.xml" Id="R220db74fc4cd47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20a4e62d064b2f" /><Relationship Type="http://schemas.openxmlformats.org/officeDocument/2006/relationships/notesMaster" Target="/ppt/notesMasters/notesMaster1.xml" Id="R1c37167007dc42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1074e7972d48eb" /><Relationship Type="http://schemas.openxmlformats.org/officeDocument/2006/relationships/notesMaster" Target="/ppt/notesMasters/notesMaster1.xml" Id="R01f0e7601e4945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c3126a5eb64383" /><Relationship Type="http://schemas.openxmlformats.org/officeDocument/2006/relationships/notesMaster" Target="/ppt/notesMasters/notesMaster1.xml" Id="Rc23f0523697145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63da9779b542fb" /><Relationship Type="http://schemas.openxmlformats.org/officeDocument/2006/relationships/notesMaster" Target="/ppt/notesMasters/notesMaster1.xml" Id="R708547fd038d40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idea, not the software. Synchus is not another dashboard. It is a way for the company to remember what the people closest to the work already know.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Hero illustration: original asset generated with OpenAI image generation for this deck. Product concept and copy: Synchus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tension we designed for. Not a lack of data. A lack of shared, trusted context between files, systems and the field.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framing and copy: Synchus project team. No external statistics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loop: Listen, reconcile, reason, act safely. The important bit is that Synchus never turns an uncertain field report into permanent truth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System design: Synchus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not a live-tracking theatre. It is an evidence map. Hubs and fleet assignments are clear. It also plainly says when current positions or yard counts are not connected.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screenshot: locally captured from Synchus route intelligence. Basemap: OpenStreetMap contributors. Route geometry: OSRM road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live moment. Speak the first worker line. The agent should ask for the minimum information it needs before it stages a report. That turns voice into reliable operational input instead of an unstructured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screenshot: locally captured Synchus Live interface. Voice intake policy and conversation examples: Synchus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important differentiator. When a document describes a new kind of operational fact, the system can propose a bounded schema and its required checks. People approve it. Every extension is reversible and auditable.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Capability Lab design and example: Synchus project team. Demo data: demo/02_cold_chain_readings.csv.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approval queue and audit ledger together. The answer is not the product. The evidence behind the answer, its uncertainty and the ability to reverse a decision are the product.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Product screenshots: locally captured Synchus approval queue and audit ledger.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exactly here: “Synchus is not asking the company to become more technical. It is helping the company listen to itself — safely, in the language its people already use.”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Closing copy: Synchus project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f08887b914e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03a43e577842d0" /><Relationship Type="http://schemas.openxmlformats.org/officeDocument/2006/relationships/slideLayout" Target="/ppt/slideLayouts/slideLayout1.xml" Id="R410bdeb0b41641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0bdeb0b41641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307177107432a" /><Relationship Type="http://schemas.openxmlformats.org/officeDocument/2006/relationships/image" Target="/ppt/media/image.png" Id="R0f24d9fca47244ac" /><Relationship Type="http://schemas.openxmlformats.org/officeDocument/2006/relationships/notesSlide" Target="/ppt/notesSlides/notesSlide1.xml" Id="R824db75ae0f04b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2df8b99d646ac" /><Relationship Type="http://schemas.openxmlformats.org/officeDocument/2006/relationships/notesSlide" Target="/ppt/notesSlides/notesSlide2.xml" Id="Re4031b875fe544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a0a1a816946cf" /><Relationship Type="http://schemas.openxmlformats.org/officeDocument/2006/relationships/notesSlide" Target="/ppt/notesSlides/notesSlide3.xml" Id="R57292df873f94b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8a42ee4b64195" /><Relationship Type="http://schemas.openxmlformats.org/officeDocument/2006/relationships/image" Target="/ppt/media/image.jpeg" Id="R36771c6a88204fcb" /><Relationship Type="http://schemas.openxmlformats.org/officeDocument/2006/relationships/notesSlide" Target="/ppt/notesSlides/notesSlide4.xml" Id="Rf3a0c92f7bea45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ae43fbadd4f96" /><Relationship Type="http://schemas.openxmlformats.org/officeDocument/2006/relationships/image" Target="/ppt/media/image2.jpeg" Id="Rdf527119ebab4ef0" /><Relationship Type="http://schemas.openxmlformats.org/officeDocument/2006/relationships/notesSlide" Target="/ppt/notesSlides/notesSlide5.xml" Id="R09aea740f9254c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3196375c0407a" /><Relationship Type="http://schemas.openxmlformats.org/officeDocument/2006/relationships/notesSlide" Target="/ppt/notesSlides/notesSlide6.xml" Id="R5f881c5a7afd47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0e098bd1a4927" /><Relationship Type="http://schemas.openxmlformats.org/officeDocument/2006/relationships/image" Target="/ppt/media/image3.jpeg" Id="Rd44fe68bba8c418e" /><Relationship Type="http://schemas.openxmlformats.org/officeDocument/2006/relationships/image" Target="/ppt/media/image4.jpeg" Id="Ra5878bcab44644ca" /><Relationship Type="http://schemas.openxmlformats.org/officeDocument/2006/relationships/notesSlide" Target="/ppt/notesSlides/notesSlide7.xml" Id="R776b8a33d8594a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6286444e74200" /><Relationship Type="http://schemas.openxmlformats.org/officeDocument/2006/relationships/notesSlide" Target="/ppt/notesSlides/notesSlide8.xml" Id="R0ffdb6b31ab946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4d9fca47244ac"/>
          <a:srcRect xmlns:a="http://schemas.openxmlformats.org/drawingml/2006/main" l="20379" t="0" r="203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400050"/>
            <a:ext cx="9525000" cy="9048750"/>
          </a:xfrm>
          <a:prstGeom xmlns:a="http://schemas.openxmlformats.org/drawingml/2006/main" prst="roundRect">
            <a:avLst>
              <a:gd name="adj" fmla="val 1684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9AACB-A7DB-4BBB-A92A-586C2B44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42875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7B206-4FC0-4B78-AEFC-9DF4BEA7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096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AF0"/>
                </a:solidFill>
              </a:defRPr>
            </a:pPr>
            <a:r>
              <a:rPr sz="1125" b="1" i="0">
                <a:solidFill>
                  <a:srgbClr val="FFFAF0"/>
                </a:solidFill>
              </a:rPr>
              <a:t>SYNCHUS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CDB51-9654-4456-B3EE-60A9C5E7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D653C"/>
                </a:solidFill>
              </a:defRPr>
            </a:pPr>
            <a:r>
              <a:rPr sz="1050" b="1" i="0">
                <a:solidFill>
                  <a:srgbClr val="4D653C"/>
                </a:solidFill>
              </a:rPr>
              <a:t>OPERATIONAL MEMORY FOR INDIAN LOGISTICS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78E7A-34E2-4CA3-A010-1AD0B87A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6810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50" b="1" i="0">
                <a:solidFill>
                  <a:srgbClr val="17201C"/>
                </a:solidFill>
              </a:defRPr>
            </a:pPr>
            <a:r>
              <a:rPr sz="5250" b="1" i="0">
                <a:solidFill>
                  <a:srgbClr val="17201C"/>
                </a:solidFill>
              </a:rPr>
              <a:t>The company learns at the speed of its ground truth.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5410C-6048-40C3-A6B7-504364D2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600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65706A"/>
                </a:solidFill>
              </a:defRPr>
            </a:pPr>
            <a:r>
              <a:rPr sz="2025" b="0" i="0">
                <a:solidFill>
                  <a:srgbClr val="65706A"/>
                </a:solidFill>
              </a:rPr>
              <a:t>Voice, files, field reports and operational systems become one living context layer — with humans retaining authority.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15B07-8EC6-4781-9814-506C1513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10450"/>
            <a:ext cx="1714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38645-1AA0-4D8F-9785-EEF2D4BF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486650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7201C"/>
                </a:solidFill>
              </a:defRPr>
            </a:pPr>
            <a:r>
              <a:rPr sz="900" b="1" i="0">
                <a:solidFill>
                  <a:srgbClr val="17201C"/>
                </a:solidFill>
              </a:rPr>
              <a:t>HACKATHON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2FB74-B4FD-4298-AA61-8E6C72AA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34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4D653C"/>
                </a:solidFill>
              </a:defRPr>
            </a:pPr>
            <a:r>
              <a:rPr sz="1350" b="1" i="0">
                <a:solidFill>
                  <a:srgbClr val="4D653C"/>
                </a:solidFill>
              </a:rPr>
              <a:t>Hindi · Hinglish · English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18C76D-D40B-4872-A46B-EA8BCA98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334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5706A"/>
                </a:solidFill>
              </a:defRPr>
            </a:pPr>
            <a:r>
              <a:rPr sz="1050" b="0" i="0">
                <a:solidFill>
                  <a:srgbClr val="65706A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452614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C2406E-3BF1-466E-8CC3-77230A83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07252"/>
                </a:solidFill>
              </a:defRPr>
            </a:pPr>
            <a:r>
              <a:rPr sz="1050" b="1" i="0">
                <a:solidFill>
                  <a:srgbClr val="F07252"/>
                </a:solidFill>
              </a:rPr>
              <a:t>THE REAL OPERATIONAL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8A0B1-0CFA-4CB2-95EB-9FEB87A8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7201C"/>
                </a:solidFill>
              </a:defRPr>
            </a:pPr>
            <a:r>
              <a:rPr sz="4050" b="1" i="0">
                <a:solidFill>
                  <a:srgbClr val="17201C"/>
                </a:solidFill>
              </a:rPr>
              <a:t>The system of record is never the whole truth.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DF8CC-3B7E-496D-92B5-C0FC5FE6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65706A"/>
                </a:solidFill>
              </a:defRPr>
            </a:pPr>
            <a:r>
              <a:rPr sz="1875" b="0" i="0">
                <a:solidFill>
                  <a:srgbClr val="65706A"/>
                </a:solidFill>
              </a:rPr>
              <a:t>Every company has documents, dashboards and people who know what changed ten minutes ago. Those truths rarely meet.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A7BD2-C08C-4754-B942-7B0456AE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3486150" cy="2457450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DCEEFA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27E07-4A39-4285-9F65-FC3A20E3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55A33-42FA-4E91-B062-4D37A51F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052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AF0"/>
                </a:solidFill>
              </a:defRPr>
            </a:pPr>
            <a:r>
              <a:rPr sz="1050" b="1" i="0">
                <a:solidFill>
                  <a:srgbClr val="FFFAF0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D739F-FE0E-46E3-8E3D-FC03A780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672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7201C"/>
                </a:solidFill>
              </a:defRPr>
            </a:pPr>
            <a:r>
              <a:rPr sz="2025" b="1" i="0">
                <a:solidFill>
                  <a:srgbClr val="17201C"/>
                </a:solidFill>
              </a:rPr>
              <a:t>Files &amp; sheets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DAF77-3A11-4E00-A664-6F21BC3C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91125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Contracts, logs, tickets</a:t>
            </a:r>
          </a:p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and scattered exports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0E182-AD53-46DB-ADA5-4D04C2E3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14750"/>
            <a:ext cx="3486150" cy="2457450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E8E0F4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2872C-FF47-4A2B-9160-9AD89BCA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E2341-A424-4E8C-AF06-B6C2D213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052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AF0"/>
                </a:solidFill>
              </a:defRPr>
            </a:pPr>
            <a:r>
              <a:rPr sz="1050" b="1" i="0">
                <a:solidFill>
                  <a:srgbClr val="FFFAF0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9B40E-2BB1-4D9B-97E5-071679D5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6672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7201C"/>
                </a:solidFill>
              </a:defRPr>
            </a:pPr>
            <a:r>
              <a:rPr sz="2025" b="1" i="0">
                <a:solidFill>
                  <a:srgbClr val="17201C"/>
                </a:solidFill>
              </a:rPr>
              <a:t>Operational systems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CED7A-DBD4-49E5-AC5B-07AB61F7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191125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Fleet, routes, hubs</a:t>
            </a:r>
          </a:p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and service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5E818-7CE4-4977-9DBB-2262F0A0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14750"/>
            <a:ext cx="3486150" cy="2457450"/>
          </a:xfrm>
          <a:prstGeom xmlns:a="http://schemas.openxmlformats.org/drawingml/2006/main" prst="roundRect">
            <a:avLst>
              <a:gd name="adj" fmla="val 6202"/>
            </a:avLst>
          </a:prstGeom>
          <a:solidFill xmlns:a="http://schemas.openxmlformats.org/drawingml/2006/main">
            <a:srgbClr val="F8DFD4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F21A0-B945-4CB1-9715-91DE4C5A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005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9C3FE-18C7-4130-874F-25E1E358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052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FFAF0"/>
                </a:solidFill>
              </a:defRPr>
            </a:pPr>
            <a:r>
              <a:rPr sz="1050" b="1" i="0">
                <a:solidFill>
                  <a:srgbClr val="FFFAF0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0A5EC-6D4A-4516-B6F3-CB709646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6672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7201C"/>
                </a:solidFill>
              </a:defRPr>
            </a:pPr>
            <a:r>
              <a:rPr sz="2025" b="1" i="0">
                <a:solidFill>
                  <a:srgbClr val="17201C"/>
                </a:solidFill>
              </a:rPr>
              <a:t>Ground reality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01326B-0966-430E-9285-4F0FA638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191125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Voice notes, calls</a:t>
            </a:r>
          </a:p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and worker observations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7E40FD-C0ED-431F-8B73-932A7E70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143750"/>
            <a:ext cx="13144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720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EC556D-73E0-4F45-85CB-2E606E7E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439025"/>
            <a:ext cx="1238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AF0"/>
                </a:solidFill>
              </a:defRPr>
            </a:pPr>
            <a:r>
              <a:rPr sz="1950" b="1" i="0">
                <a:solidFill>
                  <a:srgbClr val="FFFAF0"/>
                </a:solidFill>
              </a:rPr>
              <a:t>The consequence: decisions are made from partial context, while the people who could complete the picture have no structured way to contribute.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6C246D-01D1-4B36-A874-FDED9F35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D653C"/>
                </a:solidFill>
              </a:defRPr>
            </a:pPr>
            <a:r>
              <a:rPr sz="900" b="1" i="0">
                <a:solidFill>
                  <a:srgbClr val="4D653C"/>
                </a:solidFill>
              </a:rPr>
              <a:t>SYNCHUS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FA2F1F-2D0F-4BA4-B033-A4F5354B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96774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D653C"/>
                </a:solidFill>
              </a:defRPr>
            </a:pPr>
            <a:r>
              <a:rPr sz="900" b="1" i="0">
                <a:solidFill>
                  <a:srgbClr val="4D653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034529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6C76AB-79DE-4AE0-B42D-016A4C7D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D653C"/>
                </a:solidFill>
              </a:defRPr>
            </a:pPr>
            <a:r>
              <a:rPr sz="1050" b="1" i="0">
                <a:solidFill>
                  <a:srgbClr val="4D653C"/>
                </a:solidFill>
              </a:rPr>
              <a:t>THE SYNCHUS CONTEXT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700E26-6DA7-45F1-9101-F4B23A93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19200"/>
            <a:ext cx="895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7201C"/>
                </a:solidFill>
              </a:defRPr>
            </a:pPr>
            <a:r>
              <a:rPr sz="4050" b="1" i="0">
                <a:solidFill>
                  <a:srgbClr val="17201C"/>
                </a:solidFill>
              </a:rPr>
              <a:t>One living operational memory.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CF98C-0626-4880-B1F9-55AFBE10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65706A"/>
                </a:solidFill>
              </a:defRPr>
            </a:pPr>
            <a:r>
              <a:rPr sz="1800" b="0" i="0">
                <a:solidFill>
                  <a:srgbClr val="65706A"/>
                </a:solidFill>
              </a:rPr>
              <a:t>Synchus keeps raw inputs, reasons across connected evidence, separates known from unknown, and stages only useful changes for human approval.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86B2A-3E60-4A32-A258-5725E6DE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318135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DCEEFA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EEE1D-0D50-4522-9B57-4829AC57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86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D653C"/>
                </a:solidFill>
              </a:defRPr>
            </a:pPr>
            <a:r>
              <a:rPr sz="1200" b="1" i="0">
                <a:solidFill>
                  <a:srgbClr val="4D653C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3A4A9-8FDD-4FF6-BBC2-9714C267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01C"/>
                </a:solidFill>
              </a:defRPr>
            </a:pPr>
            <a:r>
              <a:rPr sz="2250" b="1" i="0">
                <a:solidFill>
                  <a:srgbClr val="17201C"/>
                </a:solidFill>
              </a:rPr>
              <a:t>Listen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C3A96-0987-42DB-A17A-07AD6644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29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Voice, Telegram, uploads</a:t>
            </a:r>
          </a:p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and existing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C7C93-B1A0-4622-9481-C8EA2ABA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48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07252"/>
                </a:solidFill>
              </a:defRPr>
            </a:pPr>
            <a:r>
              <a:rPr sz="2250" b="1" i="0">
                <a:solidFill>
                  <a:srgbClr val="F07252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FEB1E-B916-4C3A-946F-DBED7F82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00500"/>
            <a:ext cx="318135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8E0F4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62123-1935-43A9-9877-AEACA609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86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D653C"/>
                </a:solidFill>
              </a:defRPr>
            </a:pPr>
            <a:r>
              <a:rPr sz="1200" b="1" i="0">
                <a:solidFill>
                  <a:srgbClr val="4D653C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A6250-A3A0-4469-A29D-3EFEA724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01C"/>
                </a:solidFill>
              </a:defRPr>
            </a:pPr>
            <a:r>
              <a:rPr sz="2250" b="1" i="0">
                <a:solidFill>
                  <a:srgbClr val="17201C"/>
                </a:solidFill>
              </a:rPr>
              <a:t>Reconcile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F40C23-4C39-4FB0-928C-C4B3D090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429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Match entities, conflicts,</a:t>
            </a:r>
          </a:p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locations and 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A82669-8F4A-4642-B5C4-52022164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48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07252"/>
                </a:solidFill>
              </a:defRPr>
            </a:pPr>
            <a:r>
              <a:rPr sz="2250" b="1" i="0">
                <a:solidFill>
                  <a:srgbClr val="F07252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C40A5D-7090-4462-87B1-193659D3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00500"/>
            <a:ext cx="318135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8F1DC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A9DE8-37A2-4D3B-A63C-993E8FCF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86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D653C"/>
                </a:solidFill>
              </a:defRPr>
            </a:pPr>
            <a:r>
              <a:rPr sz="1200" b="1" i="0">
                <a:solidFill>
                  <a:srgbClr val="4D653C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FFC17-E88E-4241-9CE1-D13FF844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01C"/>
                </a:solidFill>
              </a:defRPr>
            </a:pPr>
            <a:r>
              <a:rPr sz="2250" b="1" i="0">
                <a:solidFill>
                  <a:srgbClr val="17201C"/>
                </a:solidFill>
              </a:rPr>
              <a:t>Reason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637C36-459D-4AA2-B7AD-885089E9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429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Find what matters,</a:t>
            </a:r>
          </a:p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what is missing and why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78956C-D1C2-46BA-8B46-2B872DA2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5048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07252"/>
                </a:solidFill>
              </a:defRPr>
            </a:pPr>
            <a:r>
              <a:rPr sz="2250" b="1" i="0">
                <a:solidFill>
                  <a:srgbClr val="F07252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93161A-3B3B-4543-A535-DBA4D6CE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4000500"/>
            <a:ext cx="318135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0AE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69C17C-89C1-4696-803B-2F7FC98F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4286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D653C"/>
                </a:solidFill>
              </a:defRPr>
            </a:pPr>
            <a:r>
              <a:rPr sz="1200" b="1" i="0">
                <a:solidFill>
                  <a:srgbClr val="4D653C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90CD05-5204-4353-A298-4AE0C124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4810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7201C"/>
                </a:solidFill>
              </a:defRPr>
            </a:pPr>
            <a:r>
              <a:rPr sz="2250" b="1" i="0">
                <a:solidFill>
                  <a:srgbClr val="17201C"/>
                </a:solidFill>
              </a:rPr>
              <a:t>Act safely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DD8098-2CE9-4052-9E88-19BD42D1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5429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Answer, stage, approve,</a:t>
            </a:r>
          </a:p>
          <a:p xmlns:a="http://schemas.openxmlformats.org/drawingml/2006/main">
            <a:pPr>
              <a:defRPr sz="1425" b="0" i="0">
                <a:solidFill>
                  <a:srgbClr val="65706A"/>
                </a:solidFill>
              </a:defRPr>
            </a:pPr>
            <a:r>
              <a:rPr sz="1425" b="0" i="0">
                <a:solidFill>
                  <a:srgbClr val="65706A"/>
                </a:solidFill>
              </a:rPr>
              <a:t>audit and reverse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EEB7BF-0D37-4C8C-B156-6A9C7D2D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3048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427A18-1B92-4C8E-B2DB-6C2E6459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7343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7201C"/>
                </a:solidFill>
              </a:defRPr>
            </a:pPr>
            <a:r>
              <a:rPr sz="900" b="1" i="0">
                <a:solidFill>
                  <a:srgbClr val="17201C"/>
                </a:solidFill>
              </a:rPr>
              <a:t>HUMAN APPROVAL IS THE BOUNDARY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0A657C-DF49-4EC0-84F2-8AED4C48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7152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D653C"/>
                </a:solidFill>
              </a:defRPr>
            </a:pPr>
            <a:r>
              <a:rPr sz="1500" b="1" i="0">
                <a:solidFill>
                  <a:srgbClr val="4D653C"/>
                </a:solidFill>
              </a:rPr>
              <a:t>Raw events remain preserved. Canonical context changes only after a person approves it.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1D4397-E1E8-4005-82DF-11D8B010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D653C"/>
                </a:solidFill>
              </a:defRPr>
            </a:pPr>
            <a:r>
              <a:rPr sz="900" b="1" i="0">
                <a:solidFill>
                  <a:srgbClr val="4D653C"/>
                </a:solidFill>
              </a:rPr>
              <a:t>SYNCHUS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9721FB-3FED-4B72-932D-62C7F256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96774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D653C"/>
                </a:solidFill>
              </a:defRPr>
            </a:pPr>
            <a:r>
              <a:rPr sz="900" b="1" i="0">
                <a:solidFill>
                  <a:srgbClr val="4D653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101396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B3E3E0-BB54-459A-9784-48AA7246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07252"/>
                </a:solidFill>
              </a:defRPr>
            </a:pPr>
            <a:r>
              <a:rPr sz="1050" b="1" i="0">
                <a:solidFill>
                  <a:srgbClr val="F07252"/>
                </a:solidFill>
              </a:rPr>
              <a:t>SPATIAL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7CD45-309B-4334-8AE1-430AF859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04900"/>
            <a:ext cx="1028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17201C"/>
                </a:solidFill>
              </a:defRPr>
            </a:pPr>
            <a:r>
              <a:rPr sz="3300" b="1" i="0">
                <a:solidFill>
                  <a:srgbClr val="17201C"/>
                </a:solidFill>
              </a:rPr>
              <a:t>A route becomes a decision — with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0B026-A831-41B3-80F1-4251FB06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65706A"/>
                </a:solidFill>
              </a:defRPr>
            </a:pPr>
            <a:r>
              <a:rPr sz="1725" b="0" i="0">
                <a:solidFill>
                  <a:srgbClr val="65706A"/>
                </a:solidFill>
              </a:rPr>
              <a:t>Select a route and see its hubs, assigned fleet, route precautions, historical patterns and honest gaps in live data.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71c6a88204fcb"/>
          <a:srcRect xmlns:a="http://schemas.openxmlformats.org/drawingml/2006/main" l="0" t="2016" r="0" b="20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3143250"/>
            <a:ext cx="10763250" cy="5810250"/>
          </a:xfrm>
          <a:prstGeom xmlns:a="http://schemas.openxmlformats.org/drawingml/2006/main" prst="roundRect">
            <a:avLst>
              <a:gd name="adj" fmla="val 262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71959E-1C95-4F21-B5F4-8084E70B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143250"/>
            <a:ext cx="5048250" cy="5810250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E9F0DF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E5898-C40A-4DA6-8EB8-83488CC5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36195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7201C"/>
                </a:solidFill>
              </a:defRPr>
            </a:pPr>
            <a:r>
              <a:rPr sz="2025" b="1" i="0">
                <a:solidFill>
                  <a:srgbClr val="17201C"/>
                </a:solidFill>
              </a:rPr>
              <a:t>What the map makes visible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00979-46A4-43B0-A2CC-F319910B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44005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B78E6-63CC-4F12-B690-8BCB4D82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352925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1C"/>
                </a:solidFill>
              </a:defRPr>
            </a:pPr>
            <a:r>
              <a:rPr sz="1425" b="0" i="0">
                <a:solidFill>
                  <a:srgbClr val="17201C"/>
                </a:solidFill>
              </a:rPr>
              <a:t>Route geometry and distance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44443-7685-4386-AECE-61F95CEB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52768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481BB-FC01-4D9C-B7CD-EE49FCB9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5229225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1C"/>
                </a:solidFill>
              </a:defRPr>
            </a:pPr>
            <a:r>
              <a:rPr sz="1425" b="0" i="0">
                <a:solidFill>
                  <a:srgbClr val="17201C"/>
                </a:solidFill>
              </a:rPr>
              <a:t>Hub clusters and home assignments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F5AF64-B0DA-4D1E-B7B1-E1B789B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6153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EF4BF-BFBF-4932-B075-2A16CF96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6105525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7201C"/>
                </a:solidFill>
              </a:defRPr>
            </a:pPr>
            <a:r>
              <a:rPr sz="1425" b="0" i="0">
                <a:solidFill>
                  <a:srgbClr val="17201C"/>
                </a:solidFill>
              </a:rPr>
              <a:t>Precautions and historical incidents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FD15E5-16F3-4C43-87CE-922339C6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70294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72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10371-BE9E-449A-BEEB-19BC3539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6981825"/>
            <a:ext cx="3476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8A3E2A"/>
                </a:solidFill>
              </a:defRPr>
            </a:pPr>
            <a:r>
              <a:rPr sz="1425" b="1" i="0">
                <a:solidFill>
                  <a:srgbClr val="8A3E2A"/>
                </a:solidFill>
              </a:rPr>
              <a:t>What is missing — without pretending it is live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B2B03-F93F-4BE2-AB6A-1F02D131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7715250"/>
            <a:ext cx="23050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46C61-B1CE-4738-B171-39687F6C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77914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7201C"/>
                </a:solidFill>
              </a:defRPr>
            </a:pPr>
            <a:r>
              <a:rPr sz="900" b="1" i="0">
                <a:solidFill>
                  <a:srgbClr val="17201C"/>
                </a:solidFill>
              </a:rPr>
              <a:t>NOT A LIVE GPS CLAIM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6A7D1-E378-4B94-8B2C-D4574D5B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82105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4D653C"/>
                </a:solidFill>
              </a:defRPr>
            </a:pPr>
            <a:r>
              <a:rPr sz="1275" b="1" i="0">
                <a:solidFill>
                  <a:srgbClr val="4D653C"/>
                </a:solidFill>
              </a:rPr>
              <a:t>The app distinguishes static evidence from live feeds — visibly.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8C40DD-9806-416B-8C6F-1BA0E454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D653C"/>
                </a:solidFill>
              </a:defRPr>
            </a:pPr>
            <a:r>
              <a:rPr sz="900" b="1" i="0">
                <a:solidFill>
                  <a:srgbClr val="4D653C"/>
                </a:solidFill>
              </a:rPr>
              <a:t>SYNCHUS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B845F6-67F6-4635-9E17-E563AD04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96774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D653C"/>
                </a:solidFill>
              </a:defRPr>
            </a:pPr>
            <a:r>
              <a:rPr sz="900" b="1" i="0">
                <a:solidFill>
                  <a:srgbClr val="4D653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071551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A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BEA548-CF44-453D-807C-0882BD3C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8FF3D"/>
                </a:solidFill>
              </a:defRPr>
            </a:pPr>
            <a:r>
              <a:rPr sz="1050" b="1" i="0">
                <a:solidFill>
                  <a:srgbClr val="C8FF3D"/>
                </a:solidFill>
              </a:rPr>
              <a:t>GROUND TRUTH, IN THE WORKER’S LANGUAGE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E12C3-65FD-497C-97A2-F1A4B57D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62050"/>
            <a:ext cx="9334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FFFAF0"/>
                </a:solidFill>
              </a:defRPr>
            </a:pPr>
            <a:r>
              <a:rPr sz="3900" b="1" i="0">
                <a:solidFill>
                  <a:srgbClr val="FFFAF0"/>
                </a:solidFill>
              </a:rPr>
              <a:t>The worker does not fill a form. Synchus conducts the interview.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49C65-8AC2-4E50-870B-F4E8C960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C7D1CA"/>
                </a:solidFill>
              </a:defRPr>
            </a:pPr>
            <a:r>
              <a:rPr sz="1725" b="0" i="0">
                <a:solidFill>
                  <a:srgbClr val="C7D1CA"/>
                </a:solidFill>
              </a:rPr>
              <a:t>Hindi, Hinglish or English — voice is the fastest way to get the detail the company is missing.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27119ebab4ef0"/>
          <a:srcRect xmlns:a="http://schemas.openxmlformats.org/drawingml/2006/main" l="26893" t="0" r="268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2750" y="647700"/>
            <a:ext cx="6667500" cy="811530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C71B2-D86E-42EA-B042-FD43DC87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85725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E8E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0ACEC-7EAA-4B14-9FC9-DA189073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95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4D653C"/>
                </a:solidFill>
              </a:defRPr>
            </a:pPr>
            <a:r>
              <a:rPr sz="975" b="1" i="0">
                <a:solidFill>
                  <a:srgbClr val="4D653C"/>
                </a:solidFill>
              </a:rPr>
              <a:t>Worker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847B8-6495-4400-A5F4-CFD72611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053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01C"/>
                </a:solidFill>
              </a:defRPr>
            </a:pPr>
            <a:r>
              <a:rPr sz="1500" b="1" i="0">
                <a:solidFill>
                  <a:srgbClr val="17201C"/>
                </a:solidFill>
              </a:rPr>
              <a:t>“NH44 par blockage hai.”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A5ECD-CCCF-4E39-A353-F77140B9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48275"/>
            <a:ext cx="85725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E7F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6F276-6776-4A40-B11A-719BF42E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197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4D653C"/>
                </a:solidFill>
              </a:defRPr>
            </a:pPr>
            <a:r>
              <a:rPr sz="975" b="1" i="0">
                <a:solidFill>
                  <a:srgbClr val="4D653C"/>
                </a:solidFill>
              </a:rPr>
              <a:t>Synchus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CEA64-8246-4067-BE37-9A6C4384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0547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01C"/>
                </a:solidFill>
              </a:defRPr>
            </a:pPr>
            <a:r>
              <a:rPr sz="1500" b="1" i="0">
                <a:solidFill>
                  <a:srgbClr val="17201C"/>
                </a:solidFill>
              </a:rPr>
              <a:t>“Kis vehicle, exact location, severity aur expected end time?”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64336-2892-4C6D-95F1-538D8E3E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48425"/>
            <a:ext cx="85725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E8E0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75329-213C-4A18-8B44-3A77A021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6198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4D653C"/>
                </a:solidFill>
              </a:defRPr>
            </a:pPr>
            <a:r>
              <a:rPr sz="975" b="1" i="0">
                <a:solidFill>
                  <a:srgbClr val="4D653C"/>
                </a:solidFill>
              </a:rPr>
              <a:t>Worker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DB55B-02EE-49C8-983D-0E50AB5A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9056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01C"/>
                </a:solidFill>
              </a:defRPr>
            </a:pPr>
            <a:r>
              <a:rPr sz="1500" b="1" i="0">
                <a:solidFill>
                  <a:srgbClr val="17201C"/>
                </a:solidFill>
              </a:rPr>
              <a:t>“DL30AN8381, Murthal, medium, 18:30 tak clear ho sakta hai.”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D6197-1B99-4BE5-9C30-1F76677F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48575"/>
            <a:ext cx="85725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0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080D5-AF02-43FE-90FF-E4288D34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8200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4D653C"/>
                </a:solidFill>
              </a:defRPr>
            </a:pPr>
            <a:r>
              <a:rPr sz="975" b="1" i="0">
                <a:solidFill>
                  <a:srgbClr val="4D653C"/>
                </a:solidFill>
              </a:rPr>
              <a:t>Synchus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8B28E-72F0-4588-ADE7-381E4FCD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810577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7201C"/>
                </a:solidFill>
              </a:defRPr>
            </a:pPr>
            <a:r>
              <a:rPr sz="1500" b="1" i="0">
                <a:solidFill>
                  <a:srgbClr val="17201C"/>
                </a:solidFill>
              </a:rPr>
              <a:t>“Confirm karun? Is report ko review ke liye stage kar raha hoon.”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7B0D1-AC56-42EA-9AFE-FDB038FB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059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8FF3D"/>
                </a:solidFill>
              </a:defRPr>
            </a:pPr>
            <a:r>
              <a:rPr sz="1125" b="1" i="0">
                <a:solidFill>
                  <a:srgbClr val="C8FF3D"/>
                </a:solidFill>
              </a:rPr>
              <a:t>Press Space to begin. Press Space again to stop.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A905A-4724-4E9E-8D5B-D60E5708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D653C"/>
                </a:solidFill>
              </a:defRPr>
            </a:pPr>
            <a:r>
              <a:rPr sz="900" b="1" i="0">
                <a:solidFill>
                  <a:srgbClr val="4D653C"/>
                </a:solidFill>
              </a:rPr>
              <a:t>SYNCHUS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9E20D-A5D0-47B8-B755-8060C141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96774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D653C"/>
                </a:solidFill>
              </a:defRPr>
            </a:pPr>
            <a:r>
              <a:rPr sz="900" b="1" i="0">
                <a:solidFill>
                  <a:srgbClr val="4D653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340395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6DE114-8503-404F-8A65-BF9A335E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07252"/>
                </a:solidFill>
              </a:defRPr>
            </a:pPr>
            <a:r>
              <a:rPr sz="1050" b="1" i="0">
                <a:solidFill>
                  <a:srgbClr val="F07252"/>
                </a:solidFill>
              </a:rPr>
              <a:t>CAPABILITY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0B26B-8C92-4394-B501-A4D18624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1381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17201C"/>
                </a:solidFill>
              </a:defRPr>
            </a:pPr>
            <a:r>
              <a:rPr sz="3750" b="1" i="0">
                <a:solidFill>
                  <a:srgbClr val="17201C"/>
                </a:solidFill>
              </a:rPr>
              <a:t>When the model is missing, Synchus proposes the smallest safe extension.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B6467-F503-4E07-9590-73C280F8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1219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65706A"/>
                </a:solidFill>
              </a:defRPr>
            </a:pPr>
            <a:r>
              <a:rPr sz="1725" b="0" i="0">
                <a:solidFill>
                  <a:srgbClr val="65706A"/>
                </a:solidFill>
              </a:rPr>
              <a:t>Some useful information does not fit today’s tables. Synchus can turn that gap into a reviewable capability proposal — never an unreviewed database mutation.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F5BC4-B4FA-4D1B-B55B-6C26D8BB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461010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8DFD4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FF2F5B-D023-40FD-B234-07D6EF31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A84B38"/>
                </a:solidFill>
              </a:defRPr>
            </a:pPr>
            <a:r>
              <a:rPr sz="1050" b="1" i="0">
                <a:solidFill>
                  <a:srgbClr val="A84B38"/>
                </a:solidFill>
              </a:rPr>
              <a:t>INCOMING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63F51-370F-4B2C-8717-FF834F14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244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7201C"/>
                </a:solidFill>
              </a:defRPr>
            </a:pPr>
            <a:r>
              <a:rPr sz="2100" b="1" i="0">
                <a:solidFill>
                  <a:srgbClr val="17201C"/>
                </a:solidFill>
              </a:rPr>
              <a:t>Cold-chain readings arrive in a CSV.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CC115-FFA9-41ED-ABCA-6EF6452A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76900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5706A"/>
                </a:solidFill>
              </a:defRPr>
            </a:pPr>
            <a:r>
              <a:rPr sz="1500" b="0" i="0">
                <a:solidFill>
                  <a:srgbClr val="65706A"/>
                </a:solidFill>
              </a:rPr>
              <a:t>“Temperature excursions must be linked to a vehicle, shipment and time window.”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CA334-412F-478E-85A5-51B1C5B9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53250"/>
            <a:ext cx="2476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BDD72-3199-4C99-AA75-8CA76FB3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029450"/>
            <a:ext cx="2209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82520D"/>
                </a:solidFill>
              </a:defRPr>
            </a:pPr>
            <a:r>
              <a:rPr sz="900" b="1" i="0">
                <a:solidFill>
                  <a:srgbClr val="82520D"/>
                </a:solidFill>
              </a:rPr>
              <a:t>NO CURRENT ENTITY EXISTS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956E6-2DD7-47D3-981C-13A08CCB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959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F07252"/>
                </a:solidFill>
              </a:defRPr>
            </a:pPr>
            <a:r>
              <a:rPr sz="3750" b="1" i="0">
                <a:solidFill>
                  <a:srgbClr val="F07252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47AD8-805C-49EC-AA4B-C960BB6A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76650"/>
            <a:ext cx="5334000" cy="4438650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E8E0F4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DC25F-7E8D-46C9-995E-CA7FD79D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38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2538A"/>
                </a:solidFill>
              </a:defRPr>
            </a:pPr>
            <a:r>
              <a:rPr sz="1050" b="1" i="0">
                <a:solidFill>
                  <a:srgbClr val="62538A"/>
                </a:solidFill>
              </a:rPr>
              <a:t>AGENT PROPOSAL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E0AA6-EEFC-4E40-962A-F58B5D2E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767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7201C"/>
                </a:solidFill>
              </a:defRPr>
            </a:pPr>
            <a:r>
              <a:rPr sz="2100" b="1" i="0">
                <a:solidFill>
                  <a:srgbClr val="17201C"/>
                </a:solidFill>
              </a:rPr>
              <a:t>cold_chain_reading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1278F-229B-4C65-99C0-611FB099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00650"/>
            <a:ext cx="42862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8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4C7C7-70B7-4DDE-BB9F-3E28EC9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149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34F63"/>
                </a:solidFill>
              </a:defRPr>
            </a:pPr>
            <a:r>
              <a:rPr sz="975" b="1" i="0">
                <a:solidFill>
                  <a:srgbClr val="534F63"/>
                </a:solidFill>
              </a:rPr>
              <a:t>vehicle_registration · text · required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B7193A-94B4-49D7-80CD-2C40C95E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753100"/>
            <a:ext cx="42862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8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1594F-BD3F-4BA3-A16D-862EE04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86740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34F63"/>
                </a:solidFill>
              </a:defRPr>
            </a:pPr>
            <a:r>
              <a:rPr sz="975" b="1" i="0">
                <a:solidFill>
                  <a:srgbClr val="534F63"/>
                </a:solidFill>
              </a:rPr>
              <a:t>recorded_at · timestamp · required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5EB96D-397A-4616-80DF-1D062623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305550"/>
            <a:ext cx="42862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8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F6D22C-5F9B-4ABB-ABB3-CC19C36E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4198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34F63"/>
                </a:solidFill>
              </a:defRPr>
            </a:pPr>
            <a:r>
              <a:rPr sz="975" b="1" i="0">
                <a:solidFill>
                  <a:srgbClr val="534F63"/>
                </a:solidFill>
              </a:rPr>
              <a:t>temperature_c · number · required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965D5-BA4E-42F4-BA38-E3B44E41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858000"/>
            <a:ext cx="42862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8F6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9227F4-DD61-4670-B8F2-7A58F5A0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97230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534F63"/>
                </a:solidFill>
              </a:defRPr>
            </a:pPr>
            <a:r>
              <a:rPr sz="975" b="1" i="0">
                <a:solidFill>
                  <a:srgbClr val="534F63"/>
                </a:solidFill>
              </a:rPr>
              <a:t>shipment_ref · text · optional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EE124F-AC95-4DFD-8CC0-DBF67D82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2959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F07252"/>
                </a:solidFill>
              </a:defRPr>
            </a:pPr>
            <a:r>
              <a:rPr sz="3750" b="1" i="0">
                <a:solidFill>
                  <a:srgbClr val="F07252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6FB58E-C856-4080-B0BA-89751F05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3905250"/>
            <a:ext cx="3333750" cy="39052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9F0DF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0EC264-7C69-4917-B2D5-4505BD3D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4248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D653C"/>
                </a:solidFill>
              </a:defRPr>
            </a:pPr>
            <a:r>
              <a:rPr sz="1050" b="1" i="0">
                <a:solidFill>
                  <a:srgbClr val="4D653C"/>
                </a:solidFill>
              </a:rPr>
              <a:t>HUMAN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7607B9-2942-4CA2-AF1B-49D49838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47815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201C"/>
                </a:solidFill>
              </a:defRPr>
            </a:pPr>
            <a:r>
              <a:rPr sz="2400" b="1" i="0">
                <a:solidFill>
                  <a:srgbClr val="17201C"/>
                </a:solidFill>
              </a:rPr>
              <a:t>Approve</a:t>
            </a:r>
          </a:p>
          <a:p xmlns:a="http://schemas.openxmlformats.org/drawingml/2006/main">
            <a:pPr>
              <a:defRPr sz="2400" b="1" i="0">
                <a:solidFill>
                  <a:srgbClr val="17201C"/>
                </a:solidFill>
              </a:defRPr>
            </a:pPr>
            <a:r>
              <a:rPr sz="2400" b="1" i="0">
                <a:solidFill>
                  <a:srgbClr val="17201C"/>
                </a:solidFill>
              </a:rPr>
              <a:t>or reject.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817AB3-09A7-4F2B-BE1B-0192C544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6000750"/>
            <a:ext cx="2476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65706A"/>
                </a:solidFill>
              </a:defRPr>
            </a:pPr>
            <a:r>
              <a:rPr sz="1350" b="0" i="0">
                <a:solidFill>
                  <a:srgbClr val="65706A"/>
                </a:solidFill>
              </a:rPr>
              <a:t>Approval creates the capability. Rejection preserves the raw evidence and the audit trail.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774414-C292-46C7-8BBD-47FF892D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7219950"/>
            <a:ext cx="14287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19AEB7-7FEE-4FAF-BB76-C216CAD1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72961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7201C"/>
                </a:solidFill>
              </a:defRPr>
            </a:pPr>
            <a:r>
              <a:rPr sz="900" b="1" i="0">
                <a:solidFill>
                  <a:srgbClr val="17201C"/>
                </a:solidFill>
              </a:rPr>
              <a:t>REVERSIBLE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3FD6A8-0546-4315-BA50-146E08BB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D653C"/>
                </a:solidFill>
              </a:defRPr>
            </a:pPr>
            <a:r>
              <a:rPr sz="900" b="1" i="0">
                <a:solidFill>
                  <a:srgbClr val="4D653C"/>
                </a:solidFill>
              </a:rPr>
              <a:t>SYNCHUS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B27DF9-E92D-47D4-B7CF-F2CADE1B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96774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D653C"/>
                </a:solidFill>
              </a:defRPr>
            </a:pPr>
            <a:r>
              <a:rPr sz="900" b="1" i="0">
                <a:solidFill>
                  <a:srgbClr val="4D653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51418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F4495-10EA-4750-A766-9313F283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39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F07252"/>
                </a:solidFill>
              </a:defRPr>
            </a:pPr>
            <a:r>
              <a:rPr sz="1050" b="1" i="0">
                <a:solidFill>
                  <a:srgbClr val="F07252"/>
                </a:solidFill>
              </a:rPr>
              <a:t>TRUST IS A PRODUCT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A54D0-DE38-44D0-AD64-CCEEE985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049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 i="0">
                <a:solidFill>
                  <a:srgbClr val="17201C"/>
                </a:solidFill>
              </a:defRPr>
            </a:pPr>
            <a:r>
              <a:rPr sz="3750" b="1" i="0">
                <a:solidFill>
                  <a:srgbClr val="17201C"/>
                </a:solidFill>
              </a:rPr>
              <a:t>Useful intelligence, without a black box.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B9B89-5C9F-4E4A-A893-FB411F3D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65706A"/>
                </a:solidFill>
              </a:defRPr>
            </a:pPr>
            <a:r>
              <a:rPr sz="1725" b="0" i="0">
                <a:solidFill>
                  <a:srgbClr val="65706A"/>
                </a:solidFill>
              </a:rPr>
              <a:t>Synchus keeps the source, the reasoning, the uncertainty and the human decision visible together.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fe68bba8c418e"/>
          <a:srcRect xmlns:a="http://schemas.openxmlformats.org/drawingml/2006/main" l="4026" t="0" r="40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3181350"/>
            <a:ext cx="8096250" cy="495300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78bcab44644ca"/>
          <a:srcRect xmlns:a="http://schemas.openxmlformats.org/drawingml/2006/main" l="5108" t="0" r="51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10700" y="3181350"/>
            <a:ext cx="7905750" cy="495300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F9BBB-43A1-474D-BD74-8E551FF1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629650"/>
            <a:ext cx="36766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CEEFA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A7793-221D-4E1D-AB34-F32EF439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810625"/>
            <a:ext cx="329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201C"/>
                </a:solidFill>
              </a:defRPr>
            </a:pPr>
            <a:r>
              <a:rPr sz="1275" b="1" i="0">
                <a:solidFill>
                  <a:srgbClr val="17201C"/>
                </a:solidFill>
              </a:rPr>
              <a:t>Evidence stays linked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E8559-F762-429B-A47F-5DE53EEF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8629650"/>
            <a:ext cx="36766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0AE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30535-1648-49BA-A24C-C2F6FCE3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8810625"/>
            <a:ext cx="329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201C"/>
                </a:solidFill>
              </a:defRPr>
            </a:pPr>
            <a:r>
              <a:rPr sz="1275" b="1" i="0">
                <a:solidFill>
                  <a:srgbClr val="17201C"/>
                </a:solidFill>
              </a:rPr>
              <a:t>Unknowns stay visible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AFEDD-CBED-4916-B428-BC909B33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8629650"/>
            <a:ext cx="36766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9F0DF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81528-44FA-4E6B-8096-A37E133A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8810625"/>
            <a:ext cx="329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201C"/>
                </a:solidFill>
              </a:defRPr>
            </a:pPr>
            <a:r>
              <a:rPr sz="1275" b="1" i="0">
                <a:solidFill>
                  <a:srgbClr val="17201C"/>
                </a:solidFill>
              </a:rPr>
              <a:t>Approvals preserve authority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CD98A-FD5E-4F3C-975D-53469DE5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0" y="8629650"/>
            <a:ext cx="36766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8E0F4"/>
          </a:solidFill>
          <a:ln xmlns:a="http://schemas.openxmlformats.org/drawingml/2006/main" w="9525">
            <a:solidFill>
              <a:srgbClr val="D7D0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98A78-9D7D-449A-A5EF-A565396C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8810625"/>
            <a:ext cx="329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201C"/>
                </a:solidFill>
              </a:defRPr>
            </a:pPr>
            <a:r>
              <a:rPr sz="1275" b="1" i="0">
                <a:solidFill>
                  <a:srgbClr val="17201C"/>
                </a:solidFill>
              </a:rPr>
              <a:t>Changes can be reversed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DE528-EFF9-41A7-B91A-140F5FA1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677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D653C"/>
                </a:solidFill>
              </a:defRPr>
            </a:pPr>
            <a:r>
              <a:rPr sz="900" b="1" i="0">
                <a:solidFill>
                  <a:srgbClr val="4D653C"/>
                </a:solidFill>
              </a:rPr>
              <a:t>SYNCHUS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6B4ED-F88D-4797-87BC-BA1FC5D9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96774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4D653C"/>
                </a:solidFill>
              </a:defRPr>
            </a:pPr>
            <a:r>
              <a:rPr sz="900" b="1" i="0">
                <a:solidFill>
                  <a:srgbClr val="4D653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910652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20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6DCCAC-47A6-46CA-8AC5-8494F89A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2E403-EEE6-4E0E-AC63-F0C89F69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15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8FF3D"/>
                </a:solidFill>
              </a:defRPr>
            </a:pPr>
            <a:r>
              <a:rPr sz="1050" b="1" i="0">
                <a:solidFill>
                  <a:srgbClr val="C8FF3D"/>
                </a:solidFill>
              </a:rPr>
              <a:t>THE SYNCHUS PROMISE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9C361-F699-4FC4-B524-C977C4D2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11239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FFAF0"/>
                </a:solidFill>
              </a:defRPr>
            </a:pPr>
            <a:r>
              <a:rPr sz="4350" b="1" i="0">
                <a:solidFill>
                  <a:srgbClr val="FFFAF0"/>
                </a:solidFill>
              </a:rPr>
              <a:t>Files become evidence.</a:t>
            </a:r>
          </a:p>
          <a:p xmlns:a="http://schemas.openxmlformats.org/drawingml/2006/main">
            <a:pPr>
              <a:defRPr sz="4350" b="1" i="0">
                <a:solidFill>
                  <a:srgbClr val="FFFAF0"/>
                </a:solidFill>
              </a:defRPr>
            </a:pPr>
            <a:r>
              <a:rPr sz="4350" b="1" i="0">
                <a:solidFill>
                  <a:srgbClr val="FFFAF0"/>
                </a:solidFill>
              </a:rPr>
              <a:t>Voices become structured knowledge.</a:t>
            </a:r>
          </a:p>
          <a:p xmlns:a="http://schemas.openxmlformats.org/drawingml/2006/main">
            <a:pPr>
              <a:defRPr sz="4350" b="1" i="0">
                <a:solidFill>
                  <a:srgbClr val="FFFAF0"/>
                </a:solidFill>
              </a:defRPr>
            </a:pPr>
            <a:r>
              <a:rPr sz="4350" b="1" i="0">
                <a:solidFill>
                  <a:srgbClr val="FFFAF0"/>
                </a:solidFill>
              </a:rPr>
              <a:t>Maps become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441A4-5C72-429F-A1B3-9828607C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838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C7D1CA"/>
                </a:solidFill>
              </a:defRPr>
            </a:pPr>
            <a:r>
              <a:rPr sz="1875" b="0" i="0">
                <a:solidFill>
                  <a:srgbClr val="C7D1CA"/>
                </a:solidFill>
              </a:rPr>
              <a:t>And through it all, the company keeps its human judgment.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DEF8C-FDFE-47DB-94E0-F1179399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0"/>
            <a:ext cx="1535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C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600AD-6D6B-47A6-9432-B30BFDE5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151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8FF3D"/>
                </a:solidFill>
              </a:defRPr>
            </a:pPr>
            <a:r>
              <a:rPr sz="1200" b="1" i="0">
                <a:solidFill>
                  <a:srgbClr val="C8FF3D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0DB78-D892-467D-9F2F-31C7FB98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AF0"/>
                </a:solidFill>
              </a:defRPr>
            </a:pPr>
            <a:r>
              <a:rPr sz="2100" b="1" i="0">
                <a:solidFill>
                  <a:srgbClr val="FFFAF0"/>
                </a:solidFill>
              </a:rPr>
              <a:t>Listen to the field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C7BC3-F8CF-4765-B2E4-86464B6B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C7D1CA"/>
                </a:solidFill>
              </a:defRPr>
            </a:pPr>
            <a:r>
              <a:rPr sz="1425" b="0" i="0">
                <a:solidFill>
                  <a:srgbClr val="C7D1CA"/>
                </a:solidFill>
              </a:rPr>
              <a:t>Speak in Hindi, Hinglish or English.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7354F-8376-4225-A521-C873B525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5151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8FF3D"/>
                </a:solidFill>
              </a:defRPr>
            </a:pPr>
            <a:r>
              <a:rPr sz="1200" b="1" i="0">
                <a:solidFill>
                  <a:srgbClr val="C8FF3D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B876E-D9F8-4307-9BF3-536F4E35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70294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AF0"/>
                </a:solidFill>
              </a:defRPr>
            </a:pPr>
            <a:r>
              <a:rPr sz="2100" b="1" i="0">
                <a:solidFill>
                  <a:srgbClr val="FFFAF0"/>
                </a:solidFill>
              </a:rPr>
              <a:t>See the operation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47C683-33B3-42A0-A7CE-273C0DD3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76200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C7D1CA"/>
                </a:solidFill>
              </a:defRPr>
            </a:pPr>
            <a:r>
              <a:rPr sz="1425" b="0" i="0">
                <a:solidFill>
                  <a:srgbClr val="C7D1CA"/>
                </a:solidFill>
              </a:rPr>
              <a:t>Routes, hubs, fleet and evidence in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C480B-5E97-47C5-A73B-F862E19D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151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8FF3D"/>
                </a:solidFill>
              </a:defRPr>
            </a:pPr>
            <a:r>
              <a:rPr sz="1200" b="1" i="0">
                <a:solidFill>
                  <a:srgbClr val="C8FF3D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600BE-7C75-4D3C-BF16-78338FA7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70294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AF0"/>
                </a:solidFill>
              </a:defRPr>
            </a:pPr>
            <a:r>
              <a:rPr sz="2100" b="1" i="0">
                <a:solidFill>
                  <a:srgbClr val="FFFAF0"/>
                </a:solidFill>
              </a:rPr>
              <a:t>Learn safely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113B7-8401-4DC8-88AA-C58B58E2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76200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C7D1CA"/>
                </a:solidFill>
              </a:defRPr>
            </a:pPr>
            <a:r>
              <a:rPr sz="1425" b="0" i="0">
                <a:solidFill>
                  <a:srgbClr val="C7D1CA"/>
                </a:solidFill>
              </a:rPr>
              <a:t>Propose, approve, audit and reverse.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A6AA3E-0D7B-42F6-8B84-EBEBB482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896350"/>
            <a:ext cx="5715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168B1-2E54-448C-94CB-17BA7AE8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972550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7201C"/>
                </a:solidFill>
              </a:defRPr>
            </a:pPr>
            <a:r>
              <a:rPr sz="900" b="1" i="0">
                <a:solidFill>
                  <a:srgbClr val="17201C"/>
                </a:solidFill>
              </a:rPr>
              <a:t>THE COMPANY LEARNS AT THE SPEED OF ITS GROUND TRUTH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AAAE76-AEF6-42F6-AF1F-589770FC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9239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C8FF3D"/>
                </a:solidFill>
              </a:defRPr>
            </a:pPr>
            <a:r>
              <a:rPr sz="1350" b="1" i="0">
                <a:solidFill>
                  <a:srgbClr val="C8FF3D"/>
                </a:solidFill>
              </a:rPr>
              <a:t>SYNCHUS</a:t>
            </a:r>
          </a:p>
        </p:txBody>
      </p:sp>
    </p:spTree>
    <p:extLst>
      <p:ext uri="{BB962C8B-B14F-4D97-AF65-F5344CB8AC3E}">
        <p14:creationId xmlns:p14="http://schemas.microsoft.com/office/powerpoint/2010/main" val="404630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2026-08-30T09:27:25.5390000Z</dcterms:created>
  <dcterms:modified xsi:type="dcterms:W3CDTF">2026-08-30T09:27:25.5390000Z</dcterms:modified>
</coreProperties>
</file>